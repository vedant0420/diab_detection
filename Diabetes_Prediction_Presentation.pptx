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e7f51b-84e0-8d71-ad0b-1f8583589e09}">
          <p14:sldIdLst>
            <p14:sldId id="256"/>
          </p14:sldIdLst>
        </p14:section>
        <p14:section name="Data" id="{15d57c4a-8aca-58fc-f60c-9b4ddc7bbde7}">
          <p14:sldIdLst>
            <p14:sldId id="257"/>
            <p14:sldId id="258"/>
            <p14:sldId id="259"/>
            <p14:sldId id="260"/>
          </p14:sldIdLst>
        </p14:section>
        <p14:section name="Modelling" id="{320c6a41-eab4-6619-a6af-4c3866331636}">
          <p14:sldIdLst>
            <p14:sldId id="261"/>
          </p14:sldIdLst>
        </p14:section>
        <p14:section name="Results" id="{a89ec367-0a3f-5ea5-813e-4ced2af2117d}">
          <p14:sldIdLst>
            <p14:sldId id="262"/>
            <p14:sldId id="263"/>
          </p14:sldIdLst>
        </p14:section>
        <p14:section name="Conclusion" id="{59b1ed4a-edf9-be14-7e9b-35f57eac110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2B3C"/>
                </a:solidFill>
                <a:latin typeface="+mn-lt"/>
              </a:defRPr>
            </a:pPr>
            <a:r>
              <a:rPr sz="1200" b="0" i="0" u="none" strike="noStrike">
                <a:solidFill>
                  <a:srgbClr val="1A2B3C"/>
                </a:solidFill>
                <a:latin typeface="+mn-lt"/>
              </a:rPr>
              <a:t>Test set (154 patients)</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C6B7A"/>
            </a:solidFill>
            <a:effectLst/>
          </c:spPr>
          <c:invertIfNegative val="0"/>
          <c:dLbls>
            <c:numFmt formatCode="0.00" sourceLinked="0"/>
            <c:txPr>
              <a:bodyPr/>
              <a:lstStyle/>
              <a:p>
                <a:pPr>
                  <a:defRPr b="0" i="0" strike="noStrike" sz="900" u="none">
                    <a:solidFill>
                      <a:srgbClr val="1A2B3C"/>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Decision Tree</c:v>
                  </c:pt>
                  <c:pt idx="3">
                    <c:v>Random Forest</c:v>
                  </c:pt>
                </c:lvl>
              </c:multiLvlStrCache>
            </c:multiLvlStrRef>
          </c:cat>
          <c:val>
            <c:numRef>
              <c:f>Sheet1!$B$2:$B$5</c:f>
              <c:numCache>
                <c:formatCode>General</c:formatCode>
                <c:ptCount val="4"/>
                <c:pt idx="0">
                  <c:v>0.734</c:v>
                </c:pt>
                <c:pt idx="1">
                  <c:v>0.734</c:v>
                </c:pt>
                <c:pt idx="2">
                  <c:v>0.708</c:v>
                </c:pt>
                <c:pt idx="3">
                  <c:v>0.721</c:v>
                </c:pt>
              </c:numCache>
            </c:numRef>
          </c:val>
        </c:ser>
        <c:ser>
          <c:idx val="1"/>
          <c:order val="1"/>
          <c:tx>
            <c:strRef>
              <c:f>Sheet1!$C$1</c:f>
              <c:strCache>
                <c:ptCount val="1"/>
                <c:pt idx="0">
                  <c:v>Recall</c:v>
                </c:pt>
              </c:strCache>
            </c:strRef>
          </c:tx>
          <c:spPr>
            <a:solidFill>
              <a:srgbClr val="C0392B"/>
            </a:solidFill>
            <a:effectLst/>
          </c:spPr>
          <c:invertIfNegative val="0"/>
          <c:dLbls>
            <c:numFmt formatCode="0.00" sourceLinked="0"/>
            <c:txPr>
              <a:bodyPr/>
              <a:lstStyle/>
              <a:p>
                <a:pPr>
                  <a:defRPr b="0" i="0" strike="noStrike" sz="900" u="none">
                    <a:solidFill>
                      <a:srgbClr val="1A2B3C"/>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Decision Tree</c:v>
                  </c:pt>
                  <c:pt idx="3">
                    <c:v>Random Forest</c:v>
                  </c:pt>
                </c:lvl>
              </c:multiLvlStrCache>
            </c:multiLvlStrRef>
          </c:cat>
          <c:val>
            <c:numRef>
              <c:f>Sheet1!$C$2:$C$5</c:f>
              <c:numCache>
                <c:formatCode>General</c:formatCode>
                <c:ptCount val="4"/>
                <c:pt idx="0">
                  <c:v>0.704</c:v>
                </c:pt>
                <c:pt idx="1">
                  <c:v>0.574</c:v>
                </c:pt>
                <c:pt idx="2">
                  <c:v>0.833</c:v>
                </c:pt>
                <c:pt idx="3">
                  <c:v>0.741</c:v>
                </c:pt>
              </c:numCache>
            </c:numRef>
          </c:val>
        </c:ser>
        <c:ser>
          <c:idx val="2"/>
          <c:order val="2"/>
          <c:tx>
            <c:strRef>
              <c:f>Sheet1!$D$1</c:f>
              <c:strCache>
                <c:ptCount val="1"/>
                <c:pt idx="0">
                  <c:v>F1-score</c:v>
                </c:pt>
              </c:strCache>
            </c:strRef>
          </c:tx>
          <c:spPr>
            <a:solidFill>
              <a:srgbClr val="2E86AB"/>
            </a:solidFill>
            <a:effectLst/>
          </c:spPr>
          <c:invertIfNegative val="0"/>
          <c:dLbls>
            <c:numFmt formatCode="0.00" sourceLinked="0"/>
            <c:txPr>
              <a:bodyPr/>
              <a:lstStyle/>
              <a:p>
                <a:pPr>
                  <a:defRPr b="0" i="0" strike="noStrike" sz="900" u="none">
                    <a:solidFill>
                      <a:srgbClr val="1A2B3C"/>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c:v>
                  </c:pt>
                  <c:pt idx="1">
                    <c:v>KNN</c:v>
                  </c:pt>
                  <c:pt idx="2">
                    <c:v>Decision Tree</c:v>
                  </c:pt>
                  <c:pt idx="3">
                    <c:v>Random Forest</c:v>
                  </c:pt>
                </c:lvl>
              </c:multiLvlStrCache>
            </c:multiLvlStrRef>
          </c:cat>
          <c:val>
            <c:numRef>
              <c:f>Sheet1!$D$2:$D$5</c:f>
              <c:numCache>
                <c:formatCode>General</c:formatCode>
                <c:ptCount val="4"/>
                <c:pt idx="0">
                  <c:v>0.65</c:v>
                </c:pt>
                <c:pt idx="1">
                  <c:v>0.602</c:v>
                </c:pt>
                <c:pt idx="2">
                  <c:v>0.667</c:v>
                </c:pt>
                <c:pt idx="3">
                  <c:v>0.65</c:v>
                </c:pt>
              </c:numCache>
            </c:numRef>
          </c:val>
        </c:ser>
        <c:dLbls>
          <c:numFmt formatCode="0.00" sourceLinked="0"/>
          <c:txPr>
            <a:bodyPr/>
            <a:lstStyle/>
            <a:p>
              <a:pPr>
                <a:defRPr b="0" i="0" strike="noStrike" sz="900" u="none">
                  <a:solidFill>
                    <a:srgbClr val="1A2B3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B3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8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1A2B3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2E86AB"/>
            </a:solidFill>
            <a:effectLst/>
          </c:spPr>
          <c:invertIfNegative val="0"/>
          <c:dLbls>
            <c:numFmt formatCode="0.00" sourceLinked="0"/>
            <c:txPr>
              <a:bodyPr/>
              <a:lstStyle/>
              <a:p>
                <a:pPr>
                  <a:defRPr b="0" i="0" strike="noStrike" sz="1000" u="none">
                    <a:solidFill>
                      <a:srgbClr val="1A2B3C"/>
                    </a:solidFill>
                    <a:latin typeface="+mn-lt"/>
                  </a:defRPr>
                </a:pPr>
              </a:p>
            </c:txPr>
            <c:showLegendKey val="0"/>
            <c:showVal val="1"/>
            <c:showCatName val="0"/>
            <c:showSerName val="0"/>
            <c:showPercent val="0"/>
            <c:showBubbleSize val="0"/>
            <c:showLeaderLines val="0"/>
          </c:dLbls>
          <c:cat>
            <c:multiLvlStrRef>
              <c:f>Sheet1!$A$2:$A$9</c:f>
              <c:multiLvlStrCache>
                <c:ptCount val="8"/>
                <c:lvl>
                  <c:pt idx="0">
                    <c:v>Blood pressure</c:v>
                  </c:pt>
                  <c:pt idx="1">
                    <c:v>Skin thickness</c:v>
                  </c:pt>
                  <c:pt idx="2">
                    <c:v>Pregnancies</c:v>
                  </c:pt>
                  <c:pt idx="3">
                    <c:v>Diabetes pedigree</c:v>
                  </c:pt>
                  <c:pt idx="4">
                    <c:v>Insulin</c:v>
                  </c:pt>
                  <c:pt idx="5">
                    <c:v>Age</c:v>
                  </c:pt>
                  <c:pt idx="6">
                    <c:v>BMI</c:v>
                  </c:pt>
                  <c:pt idx="7">
                    <c:v>Glucose</c:v>
                  </c:pt>
                </c:lvl>
              </c:multiLvlStrCache>
            </c:multiLvlStrRef>
          </c:cat>
          <c:val>
            <c:numRef>
              <c:f>Sheet1!$B$2:$B$9</c:f>
              <c:numCache>
                <c:formatCode>General</c:formatCode>
                <c:ptCount val="8"/>
                <c:pt idx="0">
                  <c:v>0.053</c:v>
                </c:pt>
                <c:pt idx="1">
                  <c:v>0.06</c:v>
                </c:pt>
                <c:pt idx="2">
                  <c:v>0.061</c:v>
                </c:pt>
                <c:pt idx="3">
                  <c:v>0.088</c:v>
                </c:pt>
                <c:pt idx="4">
                  <c:v>0.115</c:v>
                </c:pt>
                <c:pt idx="5">
                  <c:v>0.123</c:v>
                </c:pt>
                <c:pt idx="6">
                  <c:v>0.182</c:v>
                </c:pt>
                <c:pt idx="7">
                  <c:v>0.319</c:v>
                </c:pt>
              </c:numCache>
            </c:numRef>
          </c:val>
        </c:ser>
        <c:dLbls>
          <c:numFmt formatCode="0.00" sourceLinked="0"/>
          <c:txPr>
            <a:bodyPr/>
            <a:lstStyle/>
            <a:p>
              <a:pPr>
                <a:defRPr b="0" i="0" strike="noStrike" sz="1000" u="none">
                  <a:solidFill>
                    <a:srgbClr val="1A2B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B3C"/>
                </a:solidFill>
                <a:latin typeface="+mn-lt"/>
              </a:defRPr>
            </a:pPr>
            <a:endParaRPr lang="en-US"/>
          </a:p>
        </c:txPr>
        <c:crossAx val="2094734552"/>
        <c:crosses val="autoZero"/>
        <c:auto val="1"/>
        <c:lblAlgn val="ctr"/>
        <c:noMultiLvlLbl val="1"/>
      </c:catAx>
      <c:valAx>
        <c:axId val="2094734552"/>
        <c:scaling>
          <c:orientation val="minMax"/>
          <c:max val="0.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Diabetes Outcome Classification, Problem Statement 8.
We used 768 patient records, compared four machine learning algorithms, and our final model correctly catches 74% of diabetic patients in the test set.
Tools: Python, pandas, scikit-learn, matplotlib and seaborn.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predict whether a patient has diabetes (Outcome = 1) or not (Outcome = 0). This is binary classification, a supervised learning task.
Dataset: Pima Indians Diabetes Database from the National Institute of Diabetes and Digestive and Kidney Diseases. 768 patients, all women of Pima Indian heritage aged 21 or older. 8 numeric features, 1 target. 268 patients (35%) have diabetes and 500 (65%) do not.
Diabetes pedigree function = a score of diabetes risk based on family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Checked duplicates: none.
2. Hidden missing values: Glucose, BloodPressure, SkinThickness, Insulin and BMI contain zeros, which are medically impossible. We replaced them with NaN (missing).
3. Filled missing values with the median of the column. Median is better than mean here because the data is skewed and has outliers.
4. StandardScaler: (value - mean) / standard deviation, so every feature has mean 0 and std 1. Needed for KNN and Logistic Regression, which are sensitive to scale.
5. Stratified split keeps the same 65:35 ratio in train and test sets.
6. class_weight='balanced' makes mistakes on the smaller diabetes class cost more.
Outliers were kept: they are real patients, and tree models are robust to them.
Data leakage: the median and scaling are learned from the training data only, so the test set stays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1, class balance: 65% of patients do not have diabetes. A useless model that always says 'no diabetes' would already be 65% accurate. That is why accuracy alone is not enough and we look at recall and F1-score.
Chart 2, glucose: the red (diabetic) distribution sits clearly to the right. Glucose is the single most useful feature, which the Random Forest also confirms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3, box plots: the box shows the middle 50% of patients and the line is the median. For all four features the diabetic group (red) is higher.
Chart 4, correlation heatmap: values range from -1 to +1. Glucose has the strongest correlation with Outcome (0.49). No two input features are extremely correlated (highest is 0.65), so we did not need to drop any feature.
Correlation only shows linear relationships, and correlation does not mean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load, clean, split, then impute and scale inside a scikit-learn Pipeline, train four models and evaluate.
Logistic Regression: linear model + sigmoid function, outputs a probability between 0 and 1.
KNN: finds the 11 nearest patients (Euclidean distance) and takes a majority vote. Needs scaling.
Decision Tree: splits data with if/else rules chosen by Gini impurity. Limited to depth 4 to avoid overfitting.
Random Forest: an ensemble of 200 decision trees, each trained on a random sample of rows and features (bagging). The majority vote is more stable than one tree.
Cross-validation: training data is split into 5 parts; the model is trained on 4 and tested on 1, five times. We pick the final model by average F1 across the 5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results (test set): 
Logistic Regression: CV F1 0.672, accuracy 0.734, precision 0.603, recall 0.704, F1 0.650
KNN: CV F1 0.611, accuracy 0.734, precision 0.633, recall 0.574, F1 0.602
Decision Tree: CV F1 0.637, accuracy 0.708, precision 0.556, recall 0.833, F1 0.667
Random Forest: CV F1 0.697, accuracy 0.721, precision 0.580, recall 0.741, F1 0.650
Precision = of the patients we said have diabetes, how many really do. Recall = of the patients who really have diabetes, how many we caught. F1 = harmonic mean of precision and recall.
Why Random Forest: highest average F1 over 5-fold cross-validation (0.697). The test set is only 154 patients, so one split can be lucky or unlucky; CV is more reliable. Decision Tree had higher test recall (0.83) but lower precision (0.56) and lower CV F1, so it is less consistent.
KNN was weakest because it cannot use class weights, so it favours the majority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for Random Forest on the 154 test patients:
True negatives 71: healthy, predicted healthy. True positives 40: diabetic, predicted diabetic.
False positives 29: healthy, but predicted diabetic. Consequence: an unnecessary follow-up test, some worry.
False negatives 14: diabetic, but predicted healthy. Consequence: disease goes untreated, which can lead to heart, kidney and eye damage. This is why we care most about recall.
Recall = 40 / (40 + 14) = 0.74. Precision = 40 / (40 + 29) = 0.58.
Feature importance: Glucose is by far the most important (0.32), then BMI and Age. This matches medical knowledge and our EDA. Importance in Random Forest = how much each feature reduces Gini impurity across all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all four models work reasonably well. Random Forest is the most reliable, catching 74% of diabetic patients. Glucose is the strongest indicator.
Effect of class weights on Random Forest: recall went from 0.52 without balancing to 0.74 with balancing.
Limitations: the data is small and from one specific population, so the model may not work for men or other populations. Many Insulin values were missing and had to be filled in. The model is a screening aid, not a replacement for a doctor.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2120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5029200" cy="82296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label"/>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TYBCA · MACHINE LEARNING PROJECT (CCA2) · PROBLEM STATEMENT 8</a:t>
            </a:r>
            <a:endParaRPr lang="en-US" sz="1100" dirty="0"/>
          </a:p>
        </p:txBody>
      </p:sp>
      <p:sp>
        <p:nvSpPr>
          <p:cNvPr id="3" name="Text 0"/>
          <p:cNvSpPr/>
          <p:nvPr>
            <p:ph idx="100" type="title" hasCustomPrompt="1"/>
          </p:nvPr>
        </p:nvSpPr>
        <p:spPr>
          <a:xfrm>
            <a:off x="548640" y="1234440"/>
            <a:ext cx="5212080" cy="1463040"/>
          </a:xfrm>
          <a:prstGeom prst="rect">
            <a:avLst/>
          </a:prstGeom>
          <a:noFill/>
          <a:ln/>
        </p:spPr>
        <p:txBody>
          <a:bodyPr wrap="square" lIns="0" tIns="0" rIns="0" bIns="0" rtlCol="0" anchor="t"/>
          <a:lstStyle/>
          <a:p>
            <a:pPr algn="l" indent="0" marL="0">
              <a:buNone/>
            </a:pPr>
            <a:r>
              <a:rPr lang="en-US" sz="4000" b="1" dirty="0">
                <a:solidFill>
                  <a:schemeClr val="bg1"/>
                </a:solidFill>
              </a:rPr>
              <a:t>Diabetes Outcome Classification</a:t>
            </a:r>
            <a:endParaRPr lang="en-US" sz="4000" dirty="0"/>
          </a:p>
        </p:txBody>
      </p:sp>
      <p:sp>
        <p:nvSpPr>
          <p:cNvPr id="4" name="Text 0"/>
          <p:cNvSpPr/>
          <p:nvPr>
            <p:ph idx="101" type="body" hasCustomPrompt="1"/>
          </p:nvPr>
        </p:nvSpPr>
        <p:spPr>
          <a:xfrm>
            <a:off x="548640" y="2788920"/>
            <a:ext cx="5029200" cy="822960"/>
          </a:xfrm>
          <a:prstGeom prst="rect">
            <a:avLst/>
          </a:prstGeom>
          <a:noFill/>
          <a:ln/>
        </p:spPr>
        <p:txBody>
          <a:bodyPr wrap="square" lIns="0" tIns="0" rIns="0" bIns="0" rtlCol="0" anchor="t"/>
          <a:lstStyle/>
          <a:p>
            <a:pPr algn="l" indent="0" marL="0">
              <a:buNone/>
            </a:pPr>
            <a:r>
              <a:rPr lang="en-US" sz="1600" dirty="0">
                <a:solidFill>
                  <a:schemeClr val="accent6"/>
                </a:solidFill>
              </a:rPr>
              <a:t>Predicting diabetes from 8 health measurements and comparing 4 classification algorithms</a:t>
            </a:r>
            <a:endParaRPr lang="en-US" sz="1600" dirty="0"/>
          </a:p>
        </p:txBody>
      </p:sp>
      <p:sp>
        <p:nvSpPr>
          <p:cNvPr id="5" name="Presenters"/>
          <p:cNvSpPr txBox="1"/>
          <p:nvPr/>
        </p:nvSpPr>
        <p:spPr>
          <a:xfrm>
            <a:off x="548640" y="3794760"/>
            <a:ext cx="5120640" cy="320040"/>
          </a:xfrm>
          <a:prstGeom prst="rect">
            <a:avLst/>
          </a:prstGeom>
          <a:noFill/>
          <a:ln/>
        </p:spPr>
        <p:txBody>
          <a:bodyPr wrap="square" lIns="0" tIns="0" rIns="0" bIns="0" rtlCol="0" anchor="ctr"/>
          <a:lstStyle/>
          <a:p>
            <a:pPr indent="0" marL="0">
              <a:buNone/>
            </a:pPr>
            <a:r>
              <a:rPr lang="en-US" sz="1600" dirty="0">
                <a:solidFill>
                  <a:schemeClr val="accent6"/>
                </a:solidFill>
              </a:rPr>
              <a:t>Presented by </a:t>
            </a:r>
            <a:pPr indent="0" marL="0">
              <a:buNone/>
            </a:pPr>
            <a:r>
              <a:rPr lang="en-US" sz="1600" b="1" dirty="0">
                <a:solidFill>
                  <a:schemeClr val="bg1"/>
                </a:solidFill>
              </a:rPr>
              <a:t>Vedant and Tarang</a:t>
            </a:r>
            <a:endParaRPr lang="en-US" sz="1600" dirty="0"/>
          </a:p>
        </p:txBody>
      </p:sp>
      <p:sp>
        <p:nvSpPr>
          <p:cNvPr id="6" name="Tools line"/>
          <p:cNvSpPr txBox="1"/>
          <p:nvPr/>
        </p:nvSpPr>
        <p:spPr>
          <a:xfrm>
            <a:off x="548640" y="4251960"/>
            <a:ext cx="5120640" cy="274320"/>
          </a:xfrm>
          <a:prstGeom prst="rect">
            <a:avLst/>
          </a:prstGeom>
          <a:noFill/>
          <a:ln/>
        </p:spPr>
        <p:txBody>
          <a:bodyPr wrap="square" lIns="0" tIns="0" rIns="0" bIns="0" rtlCol="0" anchor="ctr"/>
          <a:lstStyle/>
          <a:p>
            <a:pPr indent="0" marL="0">
              <a:buNone/>
            </a:pPr>
            <a:r>
              <a:rPr lang="en-US" sz="1200" dirty="0">
                <a:solidFill>
                  <a:schemeClr val="accent6"/>
                </a:solidFill>
              </a:rPr>
              <a:t>Dataset: Pima Indians Diabetes Database  ·  Python  ·  scikit-learn</a:t>
            </a:r>
            <a:endParaRPr lang="en-US" sz="1200" dirty="0"/>
          </a:p>
        </p:txBody>
      </p:sp>
      <p:sp>
        <p:nvSpPr>
          <p:cNvPr id="7" name="Title stat 1"/>
          <p:cNvSpPr/>
          <p:nvPr/>
        </p:nvSpPr>
        <p:spPr>
          <a:xfrm>
            <a:off x="6172200" y="868680"/>
            <a:ext cx="2514600" cy="960120"/>
          </a:xfrm>
          <a:prstGeom prst="roundRect">
            <a:avLst>
              <a:gd name="adj" fmla="val 7619"/>
            </a:avLst>
          </a:prstGeom>
          <a:solidFill>
            <a:schemeClr val="bg1">
              <a:alpha val="12000"/>
            </a:schemeClr>
          </a:solidFill>
          <a:ln/>
        </p:spPr>
      </p:sp>
      <p:sp>
        <p:nvSpPr>
          <p:cNvPr id="8" name="Title stat 1 value"/>
          <p:cNvSpPr txBox="1"/>
          <p:nvPr/>
        </p:nvSpPr>
        <p:spPr>
          <a:xfrm>
            <a:off x="6309360" y="960120"/>
            <a:ext cx="2240280" cy="499262"/>
          </a:xfrm>
          <a:prstGeom prst="rect">
            <a:avLst/>
          </a:prstGeom>
          <a:noFill/>
          <a:ln/>
        </p:spPr>
        <p:txBody>
          <a:bodyPr wrap="square" lIns="0" tIns="0" rIns="0" bIns="0" rtlCol="0" anchor="b"/>
          <a:lstStyle/>
          <a:p>
            <a:pPr indent="0" marL="0">
              <a:buNone/>
            </a:pPr>
            <a:r>
              <a:rPr lang="en-US" sz="2800" b="1" dirty="0">
                <a:solidFill>
                  <a:schemeClr val="bg1"/>
                </a:solidFill>
                <a:latin typeface="Cambria" pitchFamily="34" charset="0"/>
                <a:ea typeface="Cambria" pitchFamily="34" charset="-122"/>
                <a:cs typeface="Cambria" pitchFamily="34" charset="-120"/>
              </a:rPr>
              <a:t>768</a:t>
            </a:r>
            <a:endParaRPr lang="en-US" sz="2800" dirty="0"/>
          </a:p>
        </p:txBody>
      </p:sp>
      <p:sp>
        <p:nvSpPr>
          <p:cNvPr id="9" name="Title stat 1 label"/>
          <p:cNvSpPr txBox="1"/>
          <p:nvPr/>
        </p:nvSpPr>
        <p:spPr>
          <a:xfrm>
            <a:off x="6309360" y="1459382"/>
            <a:ext cx="2240280" cy="364846"/>
          </a:xfrm>
          <a:prstGeom prst="rect">
            <a:avLst/>
          </a:prstGeom>
          <a:noFill/>
          <a:ln/>
        </p:spPr>
        <p:txBody>
          <a:bodyPr wrap="square" lIns="0" tIns="0" rIns="0" bIns="0" rtlCol="0" anchor="t"/>
          <a:lstStyle/>
          <a:p>
            <a:pPr indent="0" marL="0">
              <a:buNone/>
            </a:pPr>
            <a:r>
              <a:rPr lang="en-US" sz="1200" dirty="0">
                <a:solidFill>
                  <a:schemeClr val="accent6"/>
                </a:solidFill>
              </a:rPr>
              <a:t>patients analysed</a:t>
            </a:r>
            <a:endParaRPr lang="en-US" sz="1200" dirty="0"/>
          </a:p>
        </p:txBody>
      </p:sp>
      <p:sp>
        <p:nvSpPr>
          <p:cNvPr id="10" name="Title stat 2"/>
          <p:cNvSpPr/>
          <p:nvPr/>
        </p:nvSpPr>
        <p:spPr>
          <a:xfrm>
            <a:off x="6172200" y="2011680"/>
            <a:ext cx="2514600" cy="960120"/>
          </a:xfrm>
          <a:prstGeom prst="roundRect">
            <a:avLst>
              <a:gd name="adj" fmla="val 7619"/>
            </a:avLst>
          </a:prstGeom>
          <a:solidFill>
            <a:schemeClr val="bg1">
              <a:alpha val="12000"/>
            </a:schemeClr>
          </a:solidFill>
          <a:ln/>
        </p:spPr>
      </p:sp>
      <p:sp>
        <p:nvSpPr>
          <p:cNvPr id="11" name="Title stat 2 value"/>
          <p:cNvSpPr txBox="1"/>
          <p:nvPr/>
        </p:nvSpPr>
        <p:spPr>
          <a:xfrm>
            <a:off x="6309360" y="2103120"/>
            <a:ext cx="2240280" cy="499262"/>
          </a:xfrm>
          <a:prstGeom prst="rect">
            <a:avLst/>
          </a:prstGeom>
          <a:noFill/>
          <a:ln/>
        </p:spPr>
        <p:txBody>
          <a:bodyPr wrap="square" lIns="0" tIns="0" rIns="0" bIns="0" rtlCol="0" anchor="b"/>
          <a:lstStyle/>
          <a:p>
            <a:pPr indent="0" marL="0">
              <a:buNone/>
            </a:pPr>
            <a:r>
              <a:rPr lang="en-US" sz="2800" b="1" dirty="0">
                <a:solidFill>
                  <a:schemeClr val="bg1"/>
                </a:solidFill>
                <a:latin typeface="Cambria" pitchFamily="34" charset="0"/>
                <a:ea typeface="Cambria" pitchFamily="34" charset="-122"/>
                <a:cs typeface="Cambria" pitchFamily="34" charset="-120"/>
              </a:rPr>
              <a:t>4</a:t>
            </a:r>
            <a:endParaRPr lang="en-US" sz="2800" dirty="0"/>
          </a:p>
        </p:txBody>
      </p:sp>
      <p:sp>
        <p:nvSpPr>
          <p:cNvPr id="12" name="Title stat 2 label"/>
          <p:cNvSpPr txBox="1"/>
          <p:nvPr/>
        </p:nvSpPr>
        <p:spPr>
          <a:xfrm>
            <a:off x="6309360" y="2602382"/>
            <a:ext cx="2240280" cy="364846"/>
          </a:xfrm>
          <a:prstGeom prst="rect">
            <a:avLst/>
          </a:prstGeom>
          <a:noFill/>
          <a:ln/>
        </p:spPr>
        <p:txBody>
          <a:bodyPr wrap="square" lIns="0" tIns="0" rIns="0" bIns="0" rtlCol="0" anchor="t"/>
          <a:lstStyle/>
          <a:p>
            <a:pPr indent="0" marL="0">
              <a:buNone/>
            </a:pPr>
            <a:r>
              <a:rPr lang="en-US" sz="1200" dirty="0">
                <a:solidFill>
                  <a:schemeClr val="accent6"/>
                </a:solidFill>
              </a:rPr>
              <a:t>algorithms compared</a:t>
            </a:r>
            <a:endParaRPr lang="en-US" sz="1200" dirty="0"/>
          </a:p>
        </p:txBody>
      </p:sp>
      <p:sp>
        <p:nvSpPr>
          <p:cNvPr id="13" name="Title stat 3"/>
          <p:cNvSpPr/>
          <p:nvPr/>
        </p:nvSpPr>
        <p:spPr>
          <a:xfrm>
            <a:off x="6172200" y="3154680"/>
            <a:ext cx="2514600" cy="960120"/>
          </a:xfrm>
          <a:prstGeom prst="roundRect">
            <a:avLst>
              <a:gd name="adj" fmla="val 7619"/>
            </a:avLst>
          </a:prstGeom>
          <a:solidFill>
            <a:schemeClr val="bg1">
              <a:alpha val="12000"/>
            </a:schemeClr>
          </a:solidFill>
          <a:ln/>
        </p:spPr>
      </p:sp>
      <p:sp>
        <p:nvSpPr>
          <p:cNvPr id="14" name="Title stat 3 value"/>
          <p:cNvSpPr txBox="1"/>
          <p:nvPr/>
        </p:nvSpPr>
        <p:spPr>
          <a:xfrm>
            <a:off x="6309360" y="3246120"/>
            <a:ext cx="2240280" cy="499262"/>
          </a:xfrm>
          <a:prstGeom prst="rect">
            <a:avLst/>
          </a:prstGeom>
          <a:noFill/>
          <a:ln/>
        </p:spPr>
        <p:txBody>
          <a:bodyPr wrap="square" lIns="0" tIns="0" rIns="0" bIns="0" rtlCol="0" anchor="b"/>
          <a:lstStyle/>
          <a:p>
            <a:pPr indent="0" marL="0">
              <a:buNone/>
            </a:pPr>
            <a:r>
              <a:rPr lang="en-US" sz="2800" b="1" dirty="0">
                <a:solidFill>
                  <a:schemeClr val="bg1"/>
                </a:solidFill>
                <a:latin typeface="Cambria" pitchFamily="34" charset="0"/>
                <a:ea typeface="Cambria" pitchFamily="34" charset="-122"/>
                <a:cs typeface="Cambria" pitchFamily="34" charset="-120"/>
              </a:rPr>
              <a:t>74%</a:t>
            </a:r>
            <a:endParaRPr lang="en-US" sz="2800" dirty="0"/>
          </a:p>
        </p:txBody>
      </p:sp>
      <p:sp>
        <p:nvSpPr>
          <p:cNvPr id="15" name="Title stat 3 label"/>
          <p:cNvSpPr txBox="1"/>
          <p:nvPr/>
        </p:nvSpPr>
        <p:spPr>
          <a:xfrm>
            <a:off x="6309360" y="3745382"/>
            <a:ext cx="2240280" cy="364846"/>
          </a:xfrm>
          <a:prstGeom prst="rect">
            <a:avLst/>
          </a:prstGeom>
          <a:noFill/>
          <a:ln/>
        </p:spPr>
        <p:txBody>
          <a:bodyPr wrap="square" lIns="0" tIns="0" rIns="0" bIns="0" rtlCol="0" anchor="t"/>
          <a:lstStyle/>
          <a:p>
            <a:pPr indent="0" marL="0">
              <a:buNone/>
            </a:pPr>
            <a:r>
              <a:rPr lang="en-US" sz="1200" dirty="0">
                <a:solidFill>
                  <a:schemeClr val="accent6"/>
                </a:solidFill>
              </a:rPr>
              <a:t>of diabetic patients caught (recall)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Problem and Dataset</a:t>
            </a:r>
            <a:endParaRPr lang="en-US" sz="3200" dirty="0"/>
          </a:p>
        </p:txBody>
      </p:sp>
      <p:sp>
        <p:nvSpPr>
          <p:cNvPr id="3" name="Problem heading"/>
          <p:cNvSpPr txBox="1"/>
          <p:nvPr/>
        </p:nvSpPr>
        <p:spPr>
          <a:xfrm>
            <a:off x="457200" y="1143000"/>
            <a:ext cx="402336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Problem</a:t>
            </a:r>
            <a:endParaRPr lang="en-US" sz="1800" dirty="0"/>
          </a:p>
        </p:txBody>
      </p:sp>
      <p:sp>
        <p:nvSpPr>
          <p:cNvPr id="4" name="Problem text"/>
          <p:cNvSpPr txBox="1"/>
          <p:nvPr/>
        </p:nvSpPr>
        <p:spPr>
          <a:xfrm>
            <a:off x="457200" y="1481328"/>
            <a:ext cx="4023360" cy="868680"/>
          </a:xfrm>
          <a:prstGeom prst="rect">
            <a:avLst/>
          </a:prstGeom>
          <a:noFill/>
          <a:ln/>
        </p:spPr>
        <p:txBody>
          <a:bodyPr wrap="square" lIns="0" tIns="0" rIns="0" bIns="0" rtlCol="0" anchor="t"/>
          <a:lstStyle/>
          <a:p>
            <a:pPr indent="0" marL="0">
              <a:buNone/>
            </a:pPr>
            <a:r>
              <a:rPr lang="en-US" sz="1400" dirty="0">
                <a:solidFill>
                  <a:schemeClr val="tx1"/>
                </a:solidFill>
              </a:rPr>
              <a:t>Diabetes often goes unnoticed until complications appear. Can a model flag at-risk patients early from routine health measurements?</a:t>
            </a:r>
            <a:endParaRPr lang="en-US" sz="1400" dirty="0"/>
          </a:p>
        </p:txBody>
      </p:sp>
      <p:sp>
        <p:nvSpPr>
          <p:cNvPr id="5" name="Objectives heading"/>
          <p:cNvSpPr txBox="1"/>
          <p:nvPr/>
        </p:nvSpPr>
        <p:spPr>
          <a:xfrm>
            <a:off x="457200" y="2468880"/>
            <a:ext cx="402336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Objectives</a:t>
            </a:r>
            <a:endParaRPr lang="en-US" sz="1800" dirty="0"/>
          </a:p>
        </p:txBody>
      </p:sp>
      <p:sp>
        <p:nvSpPr>
          <p:cNvPr id="6" name="Objectives list"/>
          <p:cNvSpPr txBox="1"/>
          <p:nvPr/>
        </p:nvSpPr>
        <p:spPr>
          <a:xfrm>
            <a:off x="457200" y="2807208"/>
            <a:ext cx="4023360" cy="1645920"/>
          </a:xfrm>
          <a:prstGeom prst="rect">
            <a:avLst/>
          </a:prstGeom>
          <a:noFill/>
          <a:ln/>
        </p:spPr>
        <p:txBody>
          <a:bodyPr wrap="square" lIns="0" tIns="25400" rIns="0" bIns="0" rtlCol="0" anchor="t"/>
          <a:lstStyle/>
          <a:p>
            <a:pPr marL="190500" indent="-190500">
              <a:spcAft>
                <a:spcPts val="600"/>
              </a:spcAft>
              <a:buSzPct val="100000"/>
              <a:buChar char="•"/>
            </a:pPr>
            <a:r>
              <a:rPr lang="en-US" sz="1400" dirty="0">
                <a:solidFill>
                  <a:schemeClr val="tx1"/>
                </a:solidFill>
              </a:rPr>
              <a:t>Clean and explore the data (EDA)</a:t>
            </a:r>
            <a:endParaRPr lang="en-US" sz="1400" dirty="0"/>
          </a:p>
          <a:p>
            <a:pPr marL="190500" indent="-190500">
              <a:spcAft>
                <a:spcPts val="600"/>
              </a:spcAft>
              <a:buSzPct val="100000"/>
              <a:buChar char="•"/>
            </a:pPr>
            <a:r>
              <a:rPr lang="en-US" sz="1400" dirty="0">
                <a:solidFill>
                  <a:schemeClr val="tx1"/>
                </a:solidFill>
              </a:rPr>
              <a:t>Train and compare 4 classifiers</a:t>
            </a:r>
            <a:endParaRPr lang="en-US" sz="1400" dirty="0"/>
          </a:p>
          <a:p>
            <a:pPr marL="190500" indent="-190500">
              <a:spcAft>
                <a:spcPts val="600"/>
              </a:spcAft>
              <a:buSzPct val="100000"/>
              <a:buChar char="•"/>
            </a:pPr>
            <a:r>
              <a:rPr lang="en-US" sz="1400" dirty="0">
                <a:solidFill>
                  <a:schemeClr val="tx1"/>
                </a:solidFill>
              </a:rPr>
              <a:t>Maximise recall: miss as few diabetic patients as possible</a:t>
            </a:r>
            <a:endParaRPr lang="en-US" sz="1400" dirty="0"/>
          </a:p>
          <a:p>
            <a:pPr marL="190500" indent="-190500">
              <a:spcAft>
                <a:spcPts val="600"/>
              </a:spcAft>
              <a:buSzPct val="100000"/>
              <a:buChar char="•"/>
            </a:pPr>
            <a:r>
              <a:rPr lang="en-US" sz="1400" dirty="0">
                <a:solidFill>
                  <a:schemeClr val="tx1"/>
                </a:solidFill>
              </a:rPr>
              <a:t>Find which health factors matter most</a:t>
            </a:r>
            <a:endParaRPr lang="en-US" sz="1400" dirty="0"/>
          </a:p>
        </p:txBody>
      </p:sp>
      <p:sp>
        <p:nvSpPr>
          <p:cNvPr id="7" name="Dataset stat 1"/>
          <p:cNvSpPr/>
          <p:nvPr/>
        </p:nvSpPr>
        <p:spPr>
          <a:xfrm>
            <a:off x="4846320" y="1143000"/>
            <a:ext cx="1188720" cy="914400"/>
          </a:xfrm>
          <a:prstGeom prst="roundRect">
            <a:avLst>
              <a:gd name="adj" fmla="val 8000"/>
            </a:avLst>
          </a:prstGeom>
          <a:solidFill>
            <a:schemeClr val="bg2"/>
          </a:solidFill>
          <a:ln/>
        </p:spPr>
      </p:sp>
      <p:sp>
        <p:nvSpPr>
          <p:cNvPr id="8" name="Dataset stat 1 value"/>
          <p:cNvSpPr txBox="1"/>
          <p:nvPr/>
        </p:nvSpPr>
        <p:spPr>
          <a:xfrm>
            <a:off x="4983480" y="1234440"/>
            <a:ext cx="914400" cy="475488"/>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768</a:t>
            </a:r>
            <a:endParaRPr lang="en-US" sz="2600" dirty="0"/>
          </a:p>
        </p:txBody>
      </p:sp>
      <p:sp>
        <p:nvSpPr>
          <p:cNvPr id="9" name="Dataset stat 1 label"/>
          <p:cNvSpPr txBox="1"/>
          <p:nvPr/>
        </p:nvSpPr>
        <p:spPr>
          <a:xfrm>
            <a:off x="4983480" y="1709928"/>
            <a:ext cx="914400" cy="347472"/>
          </a:xfrm>
          <a:prstGeom prst="rect">
            <a:avLst/>
          </a:prstGeom>
          <a:noFill/>
          <a:ln/>
        </p:spPr>
        <p:txBody>
          <a:bodyPr wrap="square" lIns="0" tIns="0" rIns="0" bIns="0" rtlCol="0" anchor="t"/>
          <a:lstStyle/>
          <a:p>
            <a:pPr indent="0" marL="0">
              <a:buNone/>
            </a:pPr>
            <a:r>
              <a:rPr lang="en-US" sz="1200" dirty="0">
                <a:solidFill>
                  <a:schemeClr val="tx1"/>
                </a:solidFill>
              </a:rPr>
              <a:t>patients</a:t>
            </a:r>
            <a:endParaRPr lang="en-US" sz="1200" dirty="0"/>
          </a:p>
        </p:txBody>
      </p:sp>
      <p:sp>
        <p:nvSpPr>
          <p:cNvPr id="10" name="Dataset stat 2"/>
          <p:cNvSpPr/>
          <p:nvPr/>
        </p:nvSpPr>
        <p:spPr>
          <a:xfrm>
            <a:off x="6149340" y="1143000"/>
            <a:ext cx="1188720" cy="914400"/>
          </a:xfrm>
          <a:prstGeom prst="roundRect">
            <a:avLst>
              <a:gd name="adj" fmla="val 8000"/>
            </a:avLst>
          </a:prstGeom>
          <a:solidFill>
            <a:schemeClr val="bg2"/>
          </a:solidFill>
          <a:ln/>
        </p:spPr>
      </p:sp>
      <p:sp>
        <p:nvSpPr>
          <p:cNvPr id="11" name="Dataset stat 2 value"/>
          <p:cNvSpPr txBox="1"/>
          <p:nvPr/>
        </p:nvSpPr>
        <p:spPr>
          <a:xfrm>
            <a:off x="6286500" y="1234440"/>
            <a:ext cx="914400" cy="475488"/>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8</a:t>
            </a:r>
            <a:endParaRPr lang="en-US" sz="2600" dirty="0"/>
          </a:p>
        </p:txBody>
      </p:sp>
      <p:sp>
        <p:nvSpPr>
          <p:cNvPr id="12" name="Dataset stat 2 label"/>
          <p:cNvSpPr txBox="1"/>
          <p:nvPr/>
        </p:nvSpPr>
        <p:spPr>
          <a:xfrm>
            <a:off x="6286500" y="1709928"/>
            <a:ext cx="914400" cy="347472"/>
          </a:xfrm>
          <a:prstGeom prst="rect">
            <a:avLst/>
          </a:prstGeom>
          <a:noFill/>
          <a:ln/>
        </p:spPr>
        <p:txBody>
          <a:bodyPr wrap="square" lIns="0" tIns="0" rIns="0" bIns="0" rtlCol="0" anchor="t"/>
          <a:lstStyle/>
          <a:p>
            <a:pPr indent="0" marL="0">
              <a:buNone/>
            </a:pPr>
            <a:r>
              <a:rPr lang="en-US" sz="1200" dirty="0">
                <a:solidFill>
                  <a:schemeClr val="tx1"/>
                </a:solidFill>
              </a:rPr>
              <a:t>input features</a:t>
            </a:r>
            <a:endParaRPr lang="en-US" sz="1200" dirty="0"/>
          </a:p>
        </p:txBody>
      </p:sp>
      <p:sp>
        <p:nvSpPr>
          <p:cNvPr id="13" name="Dataset stat 3"/>
          <p:cNvSpPr/>
          <p:nvPr/>
        </p:nvSpPr>
        <p:spPr>
          <a:xfrm>
            <a:off x="7452360" y="1143000"/>
            <a:ext cx="1188720" cy="914400"/>
          </a:xfrm>
          <a:prstGeom prst="roundRect">
            <a:avLst>
              <a:gd name="adj" fmla="val 8000"/>
            </a:avLst>
          </a:prstGeom>
          <a:solidFill>
            <a:schemeClr val="bg2"/>
          </a:solidFill>
          <a:ln/>
        </p:spPr>
      </p:sp>
      <p:sp>
        <p:nvSpPr>
          <p:cNvPr id="14" name="Dataset stat 3 value"/>
          <p:cNvSpPr txBox="1"/>
          <p:nvPr/>
        </p:nvSpPr>
        <p:spPr>
          <a:xfrm>
            <a:off x="7589520" y="1234440"/>
            <a:ext cx="914400" cy="475488"/>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35%</a:t>
            </a:r>
            <a:endParaRPr lang="en-US" sz="2600" dirty="0"/>
          </a:p>
        </p:txBody>
      </p:sp>
      <p:sp>
        <p:nvSpPr>
          <p:cNvPr id="15" name="Dataset stat 3 label"/>
          <p:cNvSpPr txBox="1"/>
          <p:nvPr/>
        </p:nvSpPr>
        <p:spPr>
          <a:xfrm>
            <a:off x="7589520" y="1709928"/>
            <a:ext cx="914400" cy="347472"/>
          </a:xfrm>
          <a:prstGeom prst="rect">
            <a:avLst/>
          </a:prstGeom>
          <a:noFill/>
          <a:ln/>
        </p:spPr>
        <p:txBody>
          <a:bodyPr wrap="square" lIns="0" tIns="0" rIns="0" bIns="0" rtlCol="0" anchor="t"/>
          <a:lstStyle/>
          <a:p>
            <a:pPr indent="0" marL="0">
              <a:buNone/>
            </a:pPr>
            <a:r>
              <a:rPr lang="en-US" sz="1200" dirty="0">
                <a:solidFill>
                  <a:schemeClr val="tx1"/>
                </a:solidFill>
              </a:rPr>
              <a:t>have diabetes</a:t>
            </a:r>
            <a:endParaRPr lang="en-US" sz="1200" dirty="0"/>
          </a:p>
        </p:txBody>
      </p:sp>
      <p:sp>
        <p:nvSpPr>
          <p:cNvPr id="16" name="Features card"/>
          <p:cNvSpPr/>
          <p:nvPr/>
        </p:nvSpPr>
        <p:spPr>
          <a:xfrm>
            <a:off x="4846320" y="2240280"/>
            <a:ext cx="3840480" cy="2240280"/>
          </a:xfrm>
          <a:prstGeom prst="roundRect">
            <a:avLst>
              <a:gd name="adj" fmla="val 3265"/>
            </a:avLst>
          </a:prstGeom>
          <a:solidFill>
            <a:schemeClr val="bg2"/>
          </a:solidFill>
          <a:ln/>
        </p:spPr>
      </p:sp>
      <p:sp>
        <p:nvSpPr>
          <p:cNvPr id="17" name="Features heading"/>
          <p:cNvSpPr txBox="1"/>
          <p:nvPr/>
        </p:nvSpPr>
        <p:spPr>
          <a:xfrm>
            <a:off x="5029200" y="2377440"/>
            <a:ext cx="3474720" cy="274320"/>
          </a:xfrm>
          <a:prstGeom prst="rect">
            <a:avLst/>
          </a:prstGeom>
          <a:noFill/>
          <a:ln/>
        </p:spPr>
        <p:txBody>
          <a:bodyPr wrap="square" lIns="0" tIns="0" rIns="0" bIns="0" rtlCol="0" anchor="ctr"/>
          <a:lstStyle/>
          <a:p>
            <a:pPr indent="0" marL="0">
              <a:buNone/>
            </a:pPr>
            <a:r>
              <a:rPr lang="en-US" sz="1400" b="1" dirty="0">
                <a:solidFill>
                  <a:schemeClr val="tx2"/>
                </a:solidFill>
              </a:rPr>
              <a:t>Input features</a:t>
            </a:r>
            <a:endParaRPr lang="en-US" sz="1400" dirty="0"/>
          </a:p>
        </p:txBody>
      </p:sp>
      <p:sp>
        <p:nvSpPr>
          <p:cNvPr id="18" name="Features col 1"/>
          <p:cNvSpPr txBox="1"/>
          <p:nvPr/>
        </p:nvSpPr>
        <p:spPr>
          <a:xfrm>
            <a:off x="5029200" y="2697480"/>
            <a:ext cx="1691640" cy="1097280"/>
          </a:xfrm>
          <a:prstGeom prst="rect">
            <a:avLst/>
          </a:prstGeom>
          <a:noFill/>
          <a:ln/>
        </p:spPr>
        <p:txBody>
          <a:bodyPr wrap="square" lIns="0" tIns="0" rIns="0" bIns="0" rtlCol="0" anchor="t"/>
          <a:lstStyle/>
          <a:p>
            <a:pPr marL="190500" indent="-190500">
              <a:buSzPct val="100000"/>
              <a:buChar char="•"/>
            </a:pPr>
            <a:r>
              <a:rPr lang="en-US" sz="1400" dirty="0">
                <a:solidFill>
                  <a:schemeClr val="tx1"/>
                </a:solidFill>
              </a:rPr>
              <a:t>Pregnancies</a:t>
            </a:r>
            <a:endParaRPr lang="en-US" sz="1400" dirty="0"/>
          </a:p>
          <a:p>
            <a:pPr marL="190500" indent="-190500">
              <a:buSzPct val="100000"/>
              <a:buChar char="•"/>
            </a:pPr>
            <a:r>
              <a:rPr lang="en-US" sz="1400" dirty="0">
                <a:solidFill>
                  <a:schemeClr val="tx1"/>
                </a:solidFill>
              </a:rPr>
              <a:t>Glucose</a:t>
            </a:r>
            <a:endParaRPr lang="en-US" sz="1400" dirty="0"/>
          </a:p>
          <a:p>
            <a:pPr marL="190500" indent="-190500">
              <a:buSzPct val="100000"/>
              <a:buChar char="•"/>
            </a:pPr>
            <a:r>
              <a:rPr lang="en-US" sz="1400" dirty="0">
                <a:solidFill>
                  <a:schemeClr val="tx1"/>
                </a:solidFill>
              </a:rPr>
              <a:t>Blood pressure</a:t>
            </a:r>
            <a:endParaRPr lang="en-US" sz="1400" dirty="0"/>
          </a:p>
          <a:p>
            <a:pPr marL="190500" indent="-190500">
              <a:buSzPct val="100000"/>
              <a:buChar char="•"/>
            </a:pPr>
            <a:r>
              <a:rPr lang="en-US" sz="1400" dirty="0">
                <a:solidFill>
                  <a:schemeClr val="tx1"/>
                </a:solidFill>
              </a:rPr>
              <a:t>Skin thickness</a:t>
            </a:r>
            <a:endParaRPr lang="en-US" sz="1400" dirty="0"/>
          </a:p>
        </p:txBody>
      </p:sp>
      <p:sp>
        <p:nvSpPr>
          <p:cNvPr id="19" name="Features col 2"/>
          <p:cNvSpPr txBox="1"/>
          <p:nvPr/>
        </p:nvSpPr>
        <p:spPr>
          <a:xfrm>
            <a:off x="6766560" y="2697480"/>
            <a:ext cx="1828800" cy="1097280"/>
          </a:xfrm>
          <a:prstGeom prst="rect">
            <a:avLst/>
          </a:prstGeom>
          <a:noFill/>
          <a:ln/>
        </p:spPr>
        <p:txBody>
          <a:bodyPr wrap="square" lIns="0" tIns="0" rIns="0" bIns="0" rtlCol="0" anchor="t"/>
          <a:lstStyle/>
          <a:p>
            <a:pPr marL="190500" indent="-190500">
              <a:buSzPct val="100000"/>
              <a:buChar char="•"/>
            </a:pPr>
            <a:r>
              <a:rPr lang="en-US" sz="1400" dirty="0">
                <a:solidFill>
                  <a:schemeClr val="tx1"/>
                </a:solidFill>
              </a:rPr>
              <a:t>Insulin</a:t>
            </a:r>
            <a:endParaRPr lang="en-US" sz="1400" dirty="0"/>
          </a:p>
          <a:p>
            <a:pPr marL="190500" indent="-190500">
              <a:buSzPct val="100000"/>
              <a:buChar char="•"/>
            </a:pPr>
            <a:r>
              <a:rPr lang="en-US" sz="1400" dirty="0">
                <a:solidFill>
                  <a:schemeClr val="tx1"/>
                </a:solidFill>
              </a:rPr>
              <a:t>BMI</a:t>
            </a:r>
            <a:endParaRPr lang="en-US" sz="1400" dirty="0"/>
          </a:p>
          <a:p>
            <a:pPr marL="190500" indent="-190500">
              <a:buSzPct val="100000"/>
              <a:buChar char="•"/>
            </a:pPr>
            <a:r>
              <a:rPr lang="en-US" sz="1400" dirty="0">
                <a:solidFill>
                  <a:schemeClr val="tx1"/>
                </a:solidFill>
              </a:rPr>
              <a:t>Diabetes pedigree</a:t>
            </a:r>
            <a:endParaRPr lang="en-US" sz="1400" dirty="0"/>
          </a:p>
          <a:p>
            <a:pPr marL="190500" indent="-190500">
              <a:buSzPct val="100000"/>
              <a:buChar char="•"/>
            </a:pPr>
            <a:r>
              <a:rPr lang="en-US" sz="1400" dirty="0">
                <a:solidFill>
                  <a:schemeClr val="tx1"/>
                </a:solidFill>
              </a:rPr>
              <a:t>Age</a:t>
            </a:r>
            <a:endParaRPr lang="en-US" sz="1400" dirty="0"/>
          </a:p>
        </p:txBody>
      </p:sp>
      <p:sp>
        <p:nvSpPr>
          <p:cNvPr id="20" name="Target"/>
          <p:cNvSpPr txBox="1"/>
          <p:nvPr/>
        </p:nvSpPr>
        <p:spPr>
          <a:xfrm>
            <a:off x="5029200" y="3931920"/>
            <a:ext cx="3474720" cy="411480"/>
          </a:xfrm>
          <a:prstGeom prst="rect">
            <a:avLst/>
          </a:prstGeom>
          <a:noFill/>
          <a:ln/>
        </p:spPr>
        <p:txBody>
          <a:bodyPr wrap="square" lIns="0" tIns="0" rIns="0" bIns="0" rtlCol="0" anchor="t"/>
          <a:lstStyle/>
          <a:p>
            <a:pPr indent="0" marL="0">
              <a:buNone/>
            </a:pPr>
            <a:r>
              <a:rPr lang="en-US" sz="1400" b="1" dirty="0">
                <a:solidFill>
                  <a:schemeClr val="accent2"/>
                </a:solidFill>
              </a:rPr>
              <a:t>Target: </a:t>
            </a:r>
            <a:pPr indent="0" marL="0">
              <a:buNone/>
            </a:pPr>
            <a:r>
              <a:rPr lang="en-US" sz="1400" dirty="0">
                <a:solidFill>
                  <a:schemeClr val="accent2"/>
                </a:solidFill>
              </a:rPr>
              <a:t>Outcome (1 = diabetes, 0 = no diabetes)</a:t>
            </a:r>
            <a:endParaRPr lang="en-US" sz="1400" dirty="0"/>
          </a:p>
        </p:txBody>
      </p:sp>
      <p:sp>
        <p:nvSpPr>
          <p:cNvPr id="21" name="Source"/>
          <p:cNvSpPr txBox="1"/>
          <p:nvPr/>
        </p:nvSpPr>
        <p:spPr>
          <a:xfrm>
            <a:off x="457200" y="4754880"/>
            <a:ext cx="7680960" cy="228600"/>
          </a:xfrm>
          <a:prstGeom prst="rect">
            <a:avLst/>
          </a:prstGeom>
          <a:noFill/>
          <a:ln/>
        </p:spPr>
        <p:txBody>
          <a:bodyPr wrap="square" lIns="0" tIns="0" rIns="0" bIns="0" rtlCol="0" anchor="ctr"/>
          <a:lstStyle/>
          <a:p>
            <a:pPr indent="0" marL="0">
              <a:buNone/>
            </a:pPr>
            <a:r>
              <a:rPr lang="en-US" sz="1000" dirty="0">
                <a:solidFill>
                  <a:schemeClr val="accent5"/>
                </a:solidFill>
              </a:rPr>
              <a:t>Source: Pima Indians Diabetes Database (NIDDK), kaggle.com/datasets/uciml/pima-indians-diabetes-database</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Data Preprocessing</a:t>
            </a:r>
            <a:endParaRPr lang="en-US" sz="3200" dirty="0"/>
          </a:p>
        </p:txBody>
      </p:sp>
      <p:pic>
        <p:nvPicPr>
          <p:cNvPr id="3" name="Missing values chart" descr="Bar chart of zero values that are really missing: Insulin 374, SkinThickness 227, BloodPressure 35, BMI 11, Glucose 5">    </p:cNvPr>
          <p:cNvPicPr>
            <a:picLocks noChangeAspect="1"/>
          </p:cNvPicPr>
          <p:nvPr/>
        </p:nvPicPr>
        <p:blipFill>
          <a:blip r:embed="rId1"/>
          <a:stretch>
            <a:fillRect/>
          </a:stretch>
        </p:blipFill>
        <p:spPr>
          <a:xfrm>
            <a:off x="457200" y="1097280"/>
            <a:ext cx="4206240" cy="2404872"/>
          </a:xfrm>
          <a:prstGeom prst="rect">
            <a:avLst/>
          </a:prstGeom>
        </p:spPr>
      </p:pic>
      <p:sp>
        <p:nvSpPr>
          <p:cNvPr id="4" name="Missing values caption"/>
          <p:cNvSpPr txBox="1"/>
          <p:nvPr/>
        </p:nvSpPr>
        <p:spPr>
          <a:xfrm>
            <a:off x="457200" y="3639312"/>
            <a:ext cx="4206240" cy="822960"/>
          </a:xfrm>
          <a:prstGeom prst="rect">
            <a:avLst/>
          </a:prstGeom>
          <a:noFill/>
          <a:ln/>
        </p:spPr>
        <p:txBody>
          <a:bodyPr wrap="square" lIns="0" tIns="0" rIns="0" bIns="0" rtlCol="0" anchor="t"/>
          <a:lstStyle/>
          <a:p>
            <a:pPr indent="0" marL="0">
              <a:buNone/>
            </a:pPr>
            <a:r>
              <a:rPr lang="en-US" sz="1300" dirty="0">
                <a:solidFill>
                  <a:schemeClr val="tx1"/>
                </a:solidFill>
              </a:rPr>
              <a:t>A glucose, blood pressure or BMI of 0 is impossible, so zeros mean "not recorded". Insulin is missing in 49% of rows, skin thickness in 30%.</a:t>
            </a:r>
            <a:endParaRPr lang="en-US" sz="1300" dirty="0"/>
          </a:p>
        </p:txBody>
      </p:sp>
      <p:sp>
        <p:nvSpPr>
          <p:cNvPr id="5" name="Step 1"/>
          <p:cNvSpPr/>
          <p:nvPr/>
        </p:nvSpPr>
        <p:spPr>
          <a:xfrm>
            <a:off x="4983480" y="1143000"/>
            <a:ext cx="384048" cy="384048"/>
          </a:xfrm>
          <a:prstGeom prst="ellipse">
            <a:avLst/>
          </a:prstGeom>
          <a:solidFill>
            <a:schemeClr val="accent1"/>
          </a:solidFill>
          <a:ln/>
        </p:spPr>
      </p:sp>
      <p:sp>
        <p:nvSpPr>
          <p:cNvPr id="6" name="Step 1 number"/>
          <p:cNvSpPr txBox="1"/>
          <p:nvPr/>
        </p:nvSpPr>
        <p:spPr>
          <a:xfrm>
            <a:off x="4983480" y="1143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 1 text"/>
          <p:cNvSpPr txBox="1"/>
          <p:nvPr/>
        </p:nvSpPr>
        <p:spPr>
          <a:xfrm>
            <a:off x="5532120" y="1143000"/>
            <a:ext cx="3154680" cy="384048"/>
          </a:xfrm>
          <a:prstGeom prst="rect">
            <a:avLst/>
          </a:prstGeom>
          <a:noFill/>
          <a:ln/>
        </p:spPr>
        <p:txBody>
          <a:bodyPr wrap="square" lIns="0" tIns="0" rIns="0" bIns="0" rtlCol="0" anchor="ctr"/>
          <a:lstStyle/>
          <a:p>
            <a:pPr indent="0" marL="0">
              <a:buNone/>
            </a:pPr>
            <a:r>
              <a:rPr lang="en-US" sz="1400" dirty="0">
                <a:solidFill>
                  <a:schemeClr val="tx1"/>
                </a:solidFill>
              </a:rPr>
              <a:t>No duplicate rows found</a:t>
            </a:r>
            <a:endParaRPr lang="en-US" sz="1400" dirty="0"/>
          </a:p>
        </p:txBody>
      </p:sp>
      <p:sp>
        <p:nvSpPr>
          <p:cNvPr id="8" name="Step 2"/>
          <p:cNvSpPr/>
          <p:nvPr/>
        </p:nvSpPr>
        <p:spPr>
          <a:xfrm>
            <a:off x="4983480" y="1709928"/>
            <a:ext cx="384048" cy="384048"/>
          </a:xfrm>
          <a:prstGeom prst="ellipse">
            <a:avLst/>
          </a:prstGeom>
          <a:solidFill>
            <a:schemeClr val="accent1"/>
          </a:solidFill>
          <a:ln/>
        </p:spPr>
      </p:sp>
      <p:sp>
        <p:nvSpPr>
          <p:cNvPr id="9" name="Step 2 number"/>
          <p:cNvSpPr txBox="1"/>
          <p:nvPr/>
        </p:nvSpPr>
        <p:spPr>
          <a:xfrm>
            <a:off x="4983480" y="17099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Step 2 text"/>
          <p:cNvSpPr txBox="1"/>
          <p:nvPr/>
        </p:nvSpPr>
        <p:spPr>
          <a:xfrm>
            <a:off x="5532120" y="1709928"/>
            <a:ext cx="3154680" cy="384048"/>
          </a:xfrm>
          <a:prstGeom prst="rect">
            <a:avLst/>
          </a:prstGeom>
          <a:noFill/>
          <a:ln/>
        </p:spPr>
        <p:txBody>
          <a:bodyPr wrap="square" lIns="0" tIns="0" rIns="0" bIns="0" rtlCol="0" anchor="ctr"/>
          <a:lstStyle/>
          <a:p>
            <a:pPr indent="0" marL="0">
              <a:buNone/>
            </a:pPr>
            <a:r>
              <a:rPr lang="en-US" sz="1400" dirty="0">
                <a:solidFill>
                  <a:schemeClr val="tx1"/>
                </a:solidFill>
              </a:rPr>
              <a:t>Impossible zeros → missing (NaN)</a:t>
            </a:r>
            <a:endParaRPr lang="en-US" sz="1400" dirty="0"/>
          </a:p>
        </p:txBody>
      </p:sp>
      <p:sp>
        <p:nvSpPr>
          <p:cNvPr id="11" name="Step 3"/>
          <p:cNvSpPr/>
          <p:nvPr/>
        </p:nvSpPr>
        <p:spPr>
          <a:xfrm>
            <a:off x="4983480" y="2276856"/>
            <a:ext cx="384048" cy="384048"/>
          </a:xfrm>
          <a:prstGeom prst="ellipse">
            <a:avLst/>
          </a:prstGeom>
          <a:solidFill>
            <a:schemeClr val="accent1"/>
          </a:solidFill>
          <a:ln/>
        </p:spPr>
      </p:sp>
      <p:sp>
        <p:nvSpPr>
          <p:cNvPr id="12" name="Step 3 number"/>
          <p:cNvSpPr txBox="1"/>
          <p:nvPr/>
        </p:nvSpPr>
        <p:spPr>
          <a:xfrm>
            <a:off x="4983480" y="22768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Step 3 text"/>
          <p:cNvSpPr txBox="1"/>
          <p:nvPr/>
        </p:nvSpPr>
        <p:spPr>
          <a:xfrm>
            <a:off x="5532120" y="2276856"/>
            <a:ext cx="3154680" cy="384048"/>
          </a:xfrm>
          <a:prstGeom prst="rect">
            <a:avLst/>
          </a:prstGeom>
          <a:noFill/>
          <a:ln/>
        </p:spPr>
        <p:txBody>
          <a:bodyPr wrap="square" lIns="0" tIns="0" rIns="0" bIns="0" rtlCol="0" anchor="ctr"/>
          <a:lstStyle/>
          <a:p>
            <a:pPr indent="0" marL="0">
              <a:buNone/>
            </a:pPr>
            <a:r>
              <a:rPr lang="en-US" sz="1400" dirty="0">
                <a:solidFill>
                  <a:schemeClr val="tx1"/>
                </a:solidFill>
              </a:rPr>
              <a:t>Missing values → column median</a:t>
            </a:r>
            <a:endParaRPr lang="en-US" sz="1400" dirty="0"/>
          </a:p>
        </p:txBody>
      </p:sp>
      <p:sp>
        <p:nvSpPr>
          <p:cNvPr id="14" name="Step 4"/>
          <p:cNvSpPr/>
          <p:nvPr/>
        </p:nvSpPr>
        <p:spPr>
          <a:xfrm>
            <a:off x="4983480" y="2843784"/>
            <a:ext cx="384048" cy="384048"/>
          </a:xfrm>
          <a:prstGeom prst="ellipse">
            <a:avLst/>
          </a:prstGeom>
          <a:solidFill>
            <a:schemeClr val="accent1"/>
          </a:solidFill>
          <a:ln/>
        </p:spPr>
      </p:sp>
      <p:sp>
        <p:nvSpPr>
          <p:cNvPr id="15" name="Step 4 number"/>
          <p:cNvSpPr txBox="1"/>
          <p:nvPr/>
        </p:nvSpPr>
        <p:spPr>
          <a:xfrm>
            <a:off x="4983480" y="28437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Step 4 text"/>
          <p:cNvSpPr txBox="1"/>
          <p:nvPr/>
        </p:nvSpPr>
        <p:spPr>
          <a:xfrm>
            <a:off x="5532120" y="2843784"/>
            <a:ext cx="3154680" cy="384048"/>
          </a:xfrm>
          <a:prstGeom prst="rect">
            <a:avLst/>
          </a:prstGeom>
          <a:noFill/>
          <a:ln/>
        </p:spPr>
        <p:txBody>
          <a:bodyPr wrap="square" lIns="0" tIns="0" rIns="0" bIns="0" rtlCol="0" anchor="ctr"/>
          <a:lstStyle/>
          <a:p>
            <a:pPr indent="0" marL="0">
              <a:buNone/>
            </a:pPr>
            <a:r>
              <a:rPr lang="en-US" sz="1400" dirty="0">
                <a:solidFill>
                  <a:schemeClr val="tx1"/>
                </a:solidFill>
              </a:rPr>
              <a:t>Features scaled (StandardScaler)</a:t>
            </a:r>
            <a:endParaRPr lang="en-US" sz="1400" dirty="0"/>
          </a:p>
        </p:txBody>
      </p:sp>
      <p:sp>
        <p:nvSpPr>
          <p:cNvPr id="17" name="Step 5"/>
          <p:cNvSpPr/>
          <p:nvPr/>
        </p:nvSpPr>
        <p:spPr>
          <a:xfrm>
            <a:off x="4983480" y="3410712"/>
            <a:ext cx="384048" cy="384048"/>
          </a:xfrm>
          <a:prstGeom prst="ellipse">
            <a:avLst/>
          </a:prstGeom>
          <a:solidFill>
            <a:schemeClr val="accent1"/>
          </a:solidFill>
          <a:ln/>
        </p:spPr>
      </p:sp>
      <p:sp>
        <p:nvSpPr>
          <p:cNvPr id="18" name="Step 5 number"/>
          <p:cNvSpPr txBox="1"/>
          <p:nvPr/>
        </p:nvSpPr>
        <p:spPr>
          <a:xfrm>
            <a:off x="4983480" y="34107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Step 5 text"/>
          <p:cNvSpPr txBox="1"/>
          <p:nvPr/>
        </p:nvSpPr>
        <p:spPr>
          <a:xfrm>
            <a:off x="5532120" y="3410712"/>
            <a:ext cx="3154680" cy="384048"/>
          </a:xfrm>
          <a:prstGeom prst="rect">
            <a:avLst/>
          </a:prstGeom>
          <a:noFill/>
          <a:ln/>
        </p:spPr>
        <p:txBody>
          <a:bodyPr wrap="square" lIns="0" tIns="0" rIns="0" bIns="0" rtlCol="0" anchor="ctr"/>
          <a:lstStyle/>
          <a:p>
            <a:pPr indent="0" marL="0">
              <a:buNone/>
            </a:pPr>
            <a:r>
              <a:rPr lang="en-US" sz="1400" dirty="0">
                <a:solidFill>
                  <a:schemeClr val="tx1"/>
                </a:solidFill>
              </a:rPr>
              <a:t>Stratified 80/20 split (614 / 154)</a:t>
            </a:r>
            <a:endParaRPr lang="en-US" sz="1400" dirty="0"/>
          </a:p>
        </p:txBody>
      </p:sp>
      <p:sp>
        <p:nvSpPr>
          <p:cNvPr id="20" name="Step 6"/>
          <p:cNvSpPr/>
          <p:nvPr/>
        </p:nvSpPr>
        <p:spPr>
          <a:xfrm>
            <a:off x="4983480" y="3977640"/>
            <a:ext cx="384048" cy="384048"/>
          </a:xfrm>
          <a:prstGeom prst="ellipse">
            <a:avLst/>
          </a:prstGeom>
          <a:solidFill>
            <a:schemeClr val="accent1"/>
          </a:solidFill>
          <a:ln/>
        </p:spPr>
      </p:sp>
      <p:sp>
        <p:nvSpPr>
          <p:cNvPr id="21" name="Step 6 number"/>
          <p:cNvSpPr txBox="1"/>
          <p:nvPr/>
        </p:nvSpPr>
        <p:spPr>
          <a:xfrm>
            <a:off x="4983480" y="3977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Step 6 text"/>
          <p:cNvSpPr txBox="1"/>
          <p:nvPr/>
        </p:nvSpPr>
        <p:spPr>
          <a:xfrm>
            <a:off x="5532120" y="3977640"/>
            <a:ext cx="3154680" cy="384048"/>
          </a:xfrm>
          <a:prstGeom prst="rect">
            <a:avLst/>
          </a:prstGeom>
          <a:noFill/>
          <a:ln/>
        </p:spPr>
        <p:txBody>
          <a:bodyPr wrap="square" lIns="0" tIns="0" rIns="0" bIns="0" rtlCol="0" anchor="ctr"/>
          <a:lstStyle/>
          <a:p>
            <a:pPr indent="0" marL="0">
              <a:buNone/>
            </a:pPr>
            <a:r>
              <a:rPr lang="en-US" sz="1400" dirty="0">
                <a:solidFill>
                  <a:schemeClr val="tx1"/>
                </a:solidFill>
              </a:rPr>
              <a:t>Class weights balanced (65:35)</a:t>
            </a:r>
            <a:endParaRPr lang="en-US" sz="1400" dirty="0"/>
          </a:p>
        </p:txBody>
      </p:sp>
      <p:sp>
        <p:nvSpPr>
          <p:cNvPr id="23" name="Leakage note"/>
          <p:cNvSpPr txBox="1"/>
          <p:nvPr/>
        </p:nvSpPr>
        <p:spPr>
          <a:xfrm>
            <a:off x="4983480" y="4553712"/>
            <a:ext cx="3246120" cy="411480"/>
          </a:xfrm>
          <a:prstGeom prst="rect">
            <a:avLst/>
          </a:prstGeom>
          <a:noFill/>
          <a:ln/>
        </p:spPr>
        <p:txBody>
          <a:bodyPr wrap="square" lIns="0" tIns="0" rIns="0" bIns="0" rtlCol="0" anchor="t"/>
          <a:lstStyle/>
          <a:p>
            <a:pPr indent="0" marL="0">
              <a:buNone/>
            </a:pPr>
            <a:r>
              <a:rPr lang="en-US" sz="1100" i="1" dirty="0">
                <a:solidFill>
                  <a:schemeClr val="accent5"/>
                </a:solidFill>
              </a:rPr>
              <a:t>Imputer and scaler are fitted on training data only (inside a Pipeline) to avoid data leakage.</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EDA: Class Balance and Glucose</a:t>
            </a:r>
            <a:endParaRPr lang="en-US" sz="3200" dirty="0"/>
          </a:p>
        </p:txBody>
      </p:sp>
      <p:pic>
        <p:nvPicPr>
          <p:cNvPr id="3" name="Class balance chart" descr="Bar chart: 500 patients without diabetes, 268 with diabetes">    </p:cNvPr>
          <p:cNvPicPr>
            <a:picLocks noChangeAspect="1"/>
          </p:cNvPicPr>
          <p:nvPr/>
        </p:nvPicPr>
        <p:blipFill>
          <a:blip r:embed="rId1"/>
          <a:stretch>
            <a:fillRect/>
          </a:stretch>
        </p:blipFill>
        <p:spPr>
          <a:xfrm>
            <a:off x="457200" y="1051560"/>
            <a:ext cx="3200400" cy="2560320"/>
          </a:xfrm>
          <a:prstGeom prst="rect">
            <a:avLst/>
          </a:prstGeom>
        </p:spPr>
      </p:pic>
      <p:pic>
        <p:nvPicPr>
          <p:cNvPr id="4" name="Glucose chart" descr="Histogram of glucose by outcome; diabetic patients are shifted to higher glucose">    </p:cNvPr>
          <p:cNvPicPr>
            <a:picLocks noChangeAspect="1"/>
          </p:cNvPicPr>
          <p:nvPr/>
        </p:nvPicPr>
        <p:blipFill>
          <a:blip r:embed="rId2"/>
          <a:stretch>
            <a:fillRect/>
          </a:stretch>
        </p:blipFill>
        <p:spPr>
          <a:xfrm>
            <a:off x="3931920" y="1051560"/>
            <a:ext cx="4754880" cy="2715768"/>
          </a:xfrm>
          <a:prstGeom prst="rect">
            <a:avLst/>
          </a:prstGeom>
        </p:spPr>
      </p:pic>
      <p:sp>
        <p:nvSpPr>
          <p:cNvPr id="5" name="Class balance caption"/>
          <p:cNvSpPr txBox="1"/>
          <p:nvPr/>
        </p:nvSpPr>
        <p:spPr>
          <a:xfrm>
            <a:off x="457200" y="3931920"/>
            <a:ext cx="3200400" cy="914400"/>
          </a:xfrm>
          <a:prstGeom prst="rect">
            <a:avLst/>
          </a:prstGeom>
          <a:noFill/>
          <a:ln/>
        </p:spPr>
        <p:txBody>
          <a:bodyPr wrap="square" lIns="0" tIns="0" rIns="0" bIns="0" rtlCol="0" anchor="t"/>
          <a:lstStyle/>
          <a:p>
            <a:pPr indent="0" marL="0">
              <a:buNone/>
            </a:pPr>
            <a:r>
              <a:rPr lang="en-US" sz="1300" dirty="0">
                <a:solidFill>
                  <a:schemeClr val="tx1"/>
                </a:solidFill>
              </a:rPr>
              <a:t>500 without vs 268 with diabetes. The data is imbalanced, so accuracy alone can mislead; we focus on recall and F1.</a:t>
            </a:r>
            <a:endParaRPr lang="en-US" sz="1300" dirty="0"/>
          </a:p>
        </p:txBody>
      </p:sp>
      <p:sp>
        <p:nvSpPr>
          <p:cNvPr id="6" name="Glucose caption"/>
          <p:cNvSpPr txBox="1"/>
          <p:nvPr/>
        </p:nvSpPr>
        <p:spPr>
          <a:xfrm>
            <a:off x="3931920" y="3931920"/>
            <a:ext cx="4754880" cy="914400"/>
          </a:xfrm>
          <a:prstGeom prst="rect">
            <a:avLst/>
          </a:prstGeom>
          <a:noFill/>
          <a:ln/>
        </p:spPr>
        <p:txBody>
          <a:bodyPr wrap="square" lIns="0" tIns="0" rIns="0" bIns="0" rtlCol="0" anchor="t"/>
          <a:lstStyle/>
          <a:p>
            <a:pPr indent="0" marL="0">
              <a:buNone/>
            </a:pPr>
            <a:r>
              <a:rPr lang="en-US" sz="1300" dirty="0">
                <a:solidFill>
                  <a:schemeClr val="tx1"/>
                </a:solidFill>
              </a:rPr>
              <a:t>Diabetic patients have much higher glucose (median 140 vs 107 mg/dL). Glucose has the strongest link to the outcome (correlation 0.49).</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EDA: Feature Patterns</a:t>
            </a:r>
            <a:endParaRPr lang="en-US" sz="3200" dirty="0"/>
          </a:p>
        </p:txBody>
      </p:sp>
      <p:pic>
        <p:nvPicPr>
          <p:cNvPr id="3" name="Box plots" descr="Box plots of Glucose, BMI, Age and Pregnancies by outcome; all are higher for diabetic patients">    </p:cNvPr>
          <p:cNvPicPr>
            <a:picLocks noChangeAspect="1"/>
          </p:cNvPicPr>
          <p:nvPr/>
        </p:nvPicPr>
        <p:blipFill>
          <a:blip r:embed="rId1"/>
          <a:stretch>
            <a:fillRect/>
          </a:stretch>
        </p:blipFill>
        <p:spPr>
          <a:xfrm>
            <a:off x="457200" y="1051560"/>
            <a:ext cx="3602736" cy="2926080"/>
          </a:xfrm>
          <a:prstGeom prst="rect">
            <a:avLst/>
          </a:prstGeom>
        </p:spPr>
      </p:pic>
      <p:pic>
        <p:nvPicPr>
          <p:cNvPr id="4" name="Correlation heatmap" descr="Correlation heatmap of all features and Outcome">    </p:cNvPr>
          <p:cNvPicPr>
            <a:picLocks noChangeAspect="1"/>
          </p:cNvPicPr>
          <p:nvPr/>
        </p:nvPicPr>
        <p:blipFill>
          <a:blip r:embed="rId2"/>
          <a:stretch>
            <a:fillRect/>
          </a:stretch>
        </p:blipFill>
        <p:spPr>
          <a:xfrm>
            <a:off x="5084064" y="1051560"/>
            <a:ext cx="3602736" cy="2926080"/>
          </a:xfrm>
          <a:prstGeom prst="rect">
            <a:avLst/>
          </a:prstGeom>
        </p:spPr>
      </p:pic>
      <p:sp>
        <p:nvSpPr>
          <p:cNvPr id="5" name="Box plot caption"/>
          <p:cNvSpPr txBox="1"/>
          <p:nvPr/>
        </p:nvSpPr>
        <p:spPr>
          <a:xfrm>
            <a:off x="457200" y="4114800"/>
            <a:ext cx="3602736" cy="731520"/>
          </a:xfrm>
          <a:prstGeom prst="rect">
            <a:avLst/>
          </a:prstGeom>
          <a:noFill/>
          <a:ln/>
        </p:spPr>
        <p:txBody>
          <a:bodyPr wrap="square" lIns="0" tIns="0" rIns="0" bIns="0" rtlCol="0" anchor="t"/>
          <a:lstStyle/>
          <a:p>
            <a:pPr indent="0" marL="0">
              <a:buNone/>
            </a:pPr>
            <a:r>
              <a:rPr lang="en-US" sz="1300" dirty="0">
                <a:solidFill>
                  <a:schemeClr val="tx1"/>
                </a:solidFill>
              </a:rPr>
              <a:t>Diabetic patients are older (median age 36 vs 27), have higher BMI (34 vs 30) and more pregnancies.</a:t>
            </a:r>
            <a:endParaRPr lang="en-US" sz="1300" dirty="0"/>
          </a:p>
        </p:txBody>
      </p:sp>
      <p:sp>
        <p:nvSpPr>
          <p:cNvPr id="6" name="Heatmap caption"/>
          <p:cNvSpPr txBox="1"/>
          <p:nvPr/>
        </p:nvSpPr>
        <p:spPr>
          <a:xfrm>
            <a:off x="5084064" y="4114800"/>
            <a:ext cx="3602736" cy="731520"/>
          </a:xfrm>
          <a:prstGeom prst="rect">
            <a:avLst/>
          </a:prstGeom>
          <a:noFill/>
          <a:ln/>
        </p:spPr>
        <p:txBody>
          <a:bodyPr wrap="square" lIns="0" tIns="0" rIns="0" bIns="0" rtlCol="0" anchor="t"/>
          <a:lstStyle/>
          <a:p>
            <a:pPr indent="0" marL="0">
              <a:buNone/>
            </a:pPr>
            <a:r>
              <a:rPr lang="en-US" sz="1300" dirty="0">
                <a:solidFill>
                  <a:schemeClr val="tx1"/>
                </a:solidFill>
              </a:rPr>
              <a:t>Glucose (0.49), BMI (0.31) and Insulin (0.30) relate most to Outcome. The highest feature pair is SkinThickness–BMI (0.65), so all 8 features were kept.</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Method and Algorithms</a:t>
            </a:r>
            <a:endParaRPr lang="en-US" sz="3200" dirty="0"/>
          </a:p>
        </p:txBody>
      </p:sp>
      <p:sp>
        <p:nvSpPr>
          <p:cNvPr id="3" name="Flow 1"/>
          <p:cNvSpPr/>
          <p:nvPr/>
        </p:nvSpPr>
        <p:spPr>
          <a:xfrm>
            <a:off x="457200" y="1097280"/>
            <a:ext cx="1243584" cy="566928"/>
          </a:xfrm>
          <a:prstGeom prst="roundRect">
            <a:avLst>
              <a:gd name="adj" fmla="val 12903"/>
            </a:avLst>
          </a:prstGeom>
          <a:solidFill>
            <a:schemeClr val="bg2"/>
          </a:solidFill>
          <a:ln/>
        </p:spPr>
      </p:sp>
      <p:sp>
        <p:nvSpPr>
          <p:cNvPr id="4" name="Flow 1 label"/>
          <p:cNvSpPr txBox="1"/>
          <p:nvPr/>
        </p:nvSpPr>
        <p:spPr>
          <a:xfrm>
            <a:off x="457200" y="1097280"/>
            <a:ext cx="1243584" cy="566928"/>
          </a:xfrm>
          <a:prstGeom prst="rect">
            <a:avLst/>
          </a:prstGeom>
          <a:noFill/>
          <a:ln/>
        </p:spPr>
        <p:txBody>
          <a:bodyPr wrap="square" lIns="0" tIns="0" rIns="0" bIns="0" rtlCol="0" anchor="ctr"/>
          <a:lstStyle/>
          <a:p>
            <a:pPr algn="ctr" indent="0" marL="0">
              <a:buNone/>
            </a:pPr>
            <a:r>
              <a:rPr lang="en-US" sz="1300" b="1" dirty="0">
                <a:solidFill>
                  <a:schemeClr val="tx2"/>
                </a:solidFill>
              </a:rPr>
              <a:t>Load data</a:t>
            </a:r>
            <a:endParaRPr lang="en-US" sz="1300" dirty="0"/>
          </a:p>
        </p:txBody>
      </p:sp>
      <p:sp>
        <p:nvSpPr>
          <p:cNvPr id="5" name="Flow arrow 1"/>
          <p:cNvSpPr txBox="1"/>
          <p:nvPr/>
        </p:nvSpPr>
        <p:spPr>
          <a:xfrm>
            <a:off x="1700784" y="1097280"/>
            <a:ext cx="146304" cy="56692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6" name="Flow 2"/>
          <p:cNvSpPr/>
          <p:nvPr/>
        </p:nvSpPr>
        <p:spPr>
          <a:xfrm>
            <a:off x="1847088" y="1097280"/>
            <a:ext cx="1243584" cy="566928"/>
          </a:xfrm>
          <a:prstGeom prst="roundRect">
            <a:avLst>
              <a:gd name="adj" fmla="val 12903"/>
            </a:avLst>
          </a:prstGeom>
          <a:solidFill>
            <a:schemeClr val="bg2"/>
          </a:solidFill>
          <a:ln/>
        </p:spPr>
      </p:sp>
      <p:sp>
        <p:nvSpPr>
          <p:cNvPr id="7" name="Flow 2 label"/>
          <p:cNvSpPr txBox="1"/>
          <p:nvPr/>
        </p:nvSpPr>
        <p:spPr>
          <a:xfrm>
            <a:off x="1847088" y="1097280"/>
            <a:ext cx="1243584" cy="566928"/>
          </a:xfrm>
          <a:prstGeom prst="rect">
            <a:avLst/>
          </a:prstGeom>
          <a:noFill/>
          <a:ln/>
        </p:spPr>
        <p:txBody>
          <a:bodyPr wrap="square" lIns="0" tIns="0" rIns="0" bIns="0" rtlCol="0" anchor="ctr"/>
          <a:lstStyle/>
          <a:p>
            <a:pPr algn="ctr" indent="0" marL="0">
              <a:buNone/>
            </a:pPr>
            <a:r>
              <a:rPr lang="en-US" sz="1300" b="1" dirty="0">
                <a:solidFill>
                  <a:schemeClr val="tx2"/>
                </a:solidFill>
              </a:rPr>
              <a:t>Clean</a:t>
            </a:r>
            <a:endParaRPr lang="en-US" sz="1300" dirty="0"/>
          </a:p>
        </p:txBody>
      </p:sp>
      <p:sp>
        <p:nvSpPr>
          <p:cNvPr id="8" name="Flow arrow 2"/>
          <p:cNvSpPr txBox="1"/>
          <p:nvPr/>
        </p:nvSpPr>
        <p:spPr>
          <a:xfrm>
            <a:off x="3090672" y="1097280"/>
            <a:ext cx="146304" cy="56692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9" name="Flow 3"/>
          <p:cNvSpPr/>
          <p:nvPr/>
        </p:nvSpPr>
        <p:spPr>
          <a:xfrm>
            <a:off x="3236976" y="1097280"/>
            <a:ext cx="1243584" cy="566928"/>
          </a:xfrm>
          <a:prstGeom prst="roundRect">
            <a:avLst>
              <a:gd name="adj" fmla="val 12903"/>
            </a:avLst>
          </a:prstGeom>
          <a:solidFill>
            <a:schemeClr val="bg2"/>
          </a:solidFill>
          <a:ln/>
        </p:spPr>
      </p:sp>
      <p:sp>
        <p:nvSpPr>
          <p:cNvPr id="10" name="Flow 3 label"/>
          <p:cNvSpPr txBox="1"/>
          <p:nvPr/>
        </p:nvSpPr>
        <p:spPr>
          <a:xfrm>
            <a:off x="3236976" y="1097280"/>
            <a:ext cx="1243584" cy="566928"/>
          </a:xfrm>
          <a:prstGeom prst="rect">
            <a:avLst/>
          </a:prstGeom>
          <a:noFill/>
          <a:ln/>
        </p:spPr>
        <p:txBody>
          <a:bodyPr wrap="square" lIns="0" tIns="0" rIns="0" bIns="0" rtlCol="0" anchor="ctr"/>
          <a:lstStyle/>
          <a:p>
            <a:pPr algn="ctr" indent="0" marL="0">
              <a:buNone/>
            </a:pPr>
            <a:r>
              <a:rPr lang="en-US" sz="1300" b="1" dirty="0">
                <a:solidFill>
                  <a:schemeClr val="tx2"/>
                </a:solidFill>
              </a:rPr>
              <a:t>Split 80/20</a:t>
            </a:r>
            <a:endParaRPr lang="en-US" sz="1300" dirty="0"/>
          </a:p>
        </p:txBody>
      </p:sp>
      <p:sp>
        <p:nvSpPr>
          <p:cNvPr id="11" name="Flow arrow 3"/>
          <p:cNvSpPr txBox="1"/>
          <p:nvPr/>
        </p:nvSpPr>
        <p:spPr>
          <a:xfrm>
            <a:off x="4480560" y="1097280"/>
            <a:ext cx="146304" cy="56692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2" name="Flow 4"/>
          <p:cNvSpPr/>
          <p:nvPr/>
        </p:nvSpPr>
        <p:spPr>
          <a:xfrm>
            <a:off x="4626864" y="1097280"/>
            <a:ext cx="1243584" cy="566928"/>
          </a:xfrm>
          <a:prstGeom prst="roundRect">
            <a:avLst>
              <a:gd name="adj" fmla="val 12903"/>
            </a:avLst>
          </a:prstGeom>
          <a:solidFill>
            <a:schemeClr val="bg2"/>
          </a:solidFill>
          <a:ln/>
        </p:spPr>
      </p:sp>
      <p:sp>
        <p:nvSpPr>
          <p:cNvPr id="13" name="Flow 4 label"/>
          <p:cNvSpPr txBox="1"/>
          <p:nvPr/>
        </p:nvSpPr>
        <p:spPr>
          <a:xfrm>
            <a:off x="4626864" y="1097280"/>
            <a:ext cx="1243584" cy="566928"/>
          </a:xfrm>
          <a:prstGeom prst="rect">
            <a:avLst/>
          </a:prstGeom>
          <a:noFill/>
          <a:ln/>
        </p:spPr>
        <p:txBody>
          <a:bodyPr wrap="square" lIns="0" tIns="0" rIns="0" bIns="0" rtlCol="0" anchor="ctr"/>
          <a:lstStyle/>
          <a:p>
            <a:pPr algn="ctr" indent="0" marL="0">
              <a:buNone/>
            </a:pPr>
            <a:r>
              <a:rPr lang="en-US" sz="1300" b="1" dirty="0">
                <a:solidFill>
                  <a:schemeClr val="tx2"/>
                </a:solidFill>
              </a:rPr>
              <a:t>Impute + scale</a:t>
            </a:r>
            <a:endParaRPr lang="en-US" sz="1300" dirty="0"/>
          </a:p>
        </p:txBody>
      </p:sp>
      <p:sp>
        <p:nvSpPr>
          <p:cNvPr id="14" name="Flow arrow 4"/>
          <p:cNvSpPr txBox="1"/>
          <p:nvPr/>
        </p:nvSpPr>
        <p:spPr>
          <a:xfrm>
            <a:off x="5870448" y="1097280"/>
            <a:ext cx="146304" cy="56692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5" name="Flow 5"/>
          <p:cNvSpPr/>
          <p:nvPr/>
        </p:nvSpPr>
        <p:spPr>
          <a:xfrm>
            <a:off x="6016752" y="1097280"/>
            <a:ext cx="1243584" cy="566928"/>
          </a:xfrm>
          <a:prstGeom prst="roundRect">
            <a:avLst>
              <a:gd name="adj" fmla="val 12903"/>
            </a:avLst>
          </a:prstGeom>
          <a:solidFill>
            <a:schemeClr val="bg2"/>
          </a:solidFill>
          <a:ln/>
        </p:spPr>
      </p:sp>
      <p:sp>
        <p:nvSpPr>
          <p:cNvPr id="16" name="Flow 5 label"/>
          <p:cNvSpPr txBox="1"/>
          <p:nvPr/>
        </p:nvSpPr>
        <p:spPr>
          <a:xfrm>
            <a:off x="6016752" y="1097280"/>
            <a:ext cx="1243584" cy="566928"/>
          </a:xfrm>
          <a:prstGeom prst="rect">
            <a:avLst/>
          </a:prstGeom>
          <a:noFill/>
          <a:ln/>
        </p:spPr>
        <p:txBody>
          <a:bodyPr wrap="square" lIns="0" tIns="0" rIns="0" bIns="0" rtlCol="0" anchor="ctr"/>
          <a:lstStyle/>
          <a:p>
            <a:pPr algn="ctr" indent="0" marL="0">
              <a:buNone/>
            </a:pPr>
            <a:r>
              <a:rPr lang="en-US" sz="1300" b="1" dirty="0">
                <a:solidFill>
                  <a:schemeClr val="tx2"/>
                </a:solidFill>
              </a:rPr>
              <a:t>Train 4 models</a:t>
            </a:r>
            <a:endParaRPr lang="en-US" sz="1300" dirty="0"/>
          </a:p>
        </p:txBody>
      </p:sp>
      <p:sp>
        <p:nvSpPr>
          <p:cNvPr id="17" name="Flow arrow 5"/>
          <p:cNvSpPr txBox="1"/>
          <p:nvPr/>
        </p:nvSpPr>
        <p:spPr>
          <a:xfrm>
            <a:off x="7260336" y="1097280"/>
            <a:ext cx="146304" cy="56692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8" name="Flow 6"/>
          <p:cNvSpPr/>
          <p:nvPr/>
        </p:nvSpPr>
        <p:spPr>
          <a:xfrm>
            <a:off x="7406640" y="1097280"/>
            <a:ext cx="1243584" cy="566928"/>
          </a:xfrm>
          <a:prstGeom prst="roundRect">
            <a:avLst>
              <a:gd name="adj" fmla="val 12903"/>
            </a:avLst>
          </a:prstGeom>
          <a:solidFill>
            <a:schemeClr val="accent1"/>
          </a:solidFill>
          <a:ln/>
        </p:spPr>
      </p:sp>
      <p:sp>
        <p:nvSpPr>
          <p:cNvPr id="19" name="Flow 6 label"/>
          <p:cNvSpPr txBox="1"/>
          <p:nvPr/>
        </p:nvSpPr>
        <p:spPr>
          <a:xfrm>
            <a:off x="7406640" y="1097280"/>
            <a:ext cx="1243584" cy="566928"/>
          </a:xfrm>
          <a:prstGeom prst="rect">
            <a:avLst/>
          </a:prstGeom>
          <a:noFill/>
          <a:ln/>
        </p:spPr>
        <p:txBody>
          <a:bodyPr wrap="square" lIns="0" tIns="0" rIns="0" bIns="0" rtlCol="0" anchor="ctr"/>
          <a:lstStyle/>
          <a:p>
            <a:pPr algn="ctr" indent="0" marL="0">
              <a:buNone/>
            </a:pPr>
            <a:r>
              <a:rPr lang="en-US" sz="1300" b="1" dirty="0">
                <a:solidFill>
                  <a:schemeClr val="bg1"/>
                </a:solidFill>
              </a:rPr>
              <a:t>Evaluate</a:t>
            </a:r>
            <a:endParaRPr lang="en-US" sz="1300" dirty="0"/>
          </a:p>
        </p:txBody>
      </p:sp>
      <p:sp>
        <p:nvSpPr>
          <p:cNvPr id="20" name="Algorithm 1"/>
          <p:cNvSpPr/>
          <p:nvPr/>
        </p:nvSpPr>
        <p:spPr>
          <a:xfrm>
            <a:off x="457200" y="1993392"/>
            <a:ext cx="384048" cy="384048"/>
          </a:xfrm>
          <a:prstGeom prst="ellipse">
            <a:avLst/>
          </a:prstGeom>
          <a:solidFill>
            <a:schemeClr val="accent1"/>
          </a:solidFill>
          <a:ln/>
        </p:spPr>
      </p:sp>
      <p:sp>
        <p:nvSpPr>
          <p:cNvPr id="21" name="Algorithm 1 number"/>
          <p:cNvSpPr txBox="1"/>
          <p:nvPr/>
        </p:nvSpPr>
        <p:spPr>
          <a:xfrm>
            <a:off x="457200" y="19933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2" name="Algorithm 1 name"/>
          <p:cNvSpPr txBox="1"/>
          <p:nvPr/>
        </p:nvSpPr>
        <p:spPr>
          <a:xfrm>
            <a:off x="1005840" y="1938528"/>
            <a:ext cx="3474720" cy="274320"/>
          </a:xfrm>
          <a:prstGeom prst="rect">
            <a:avLst/>
          </a:prstGeom>
          <a:noFill/>
          <a:ln/>
        </p:spPr>
        <p:txBody>
          <a:bodyPr wrap="square" lIns="0" tIns="0" rIns="0" bIns="0" rtlCol="0" anchor="ctr"/>
          <a:lstStyle/>
          <a:p>
            <a:pPr indent="0" marL="0">
              <a:buNone/>
            </a:pPr>
            <a:r>
              <a:rPr lang="en-US" sz="1400" b="1" dirty="0">
                <a:solidFill>
                  <a:schemeClr val="tx2"/>
                </a:solidFill>
              </a:rPr>
              <a:t>Logistic Regression</a:t>
            </a:r>
            <a:endParaRPr lang="en-US" sz="1400" dirty="0"/>
          </a:p>
        </p:txBody>
      </p:sp>
      <p:sp>
        <p:nvSpPr>
          <p:cNvPr id="23" name="Algorithm 1 desc"/>
          <p:cNvSpPr txBox="1"/>
          <p:nvPr/>
        </p:nvSpPr>
        <p:spPr>
          <a:xfrm>
            <a:off x="1005840" y="2212848"/>
            <a:ext cx="3474720" cy="274320"/>
          </a:xfrm>
          <a:prstGeom prst="rect">
            <a:avLst/>
          </a:prstGeom>
          <a:noFill/>
          <a:ln/>
        </p:spPr>
        <p:txBody>
          <a:bodyPr wrap="square" lIns="0" tIns="0" rIns="0" bIns="0" rtlCol="0" anchor="ctr"/>
          <a:lstStyle/>
          <a:p>
            <a:pPr indent="0" marL="0">
              <a:buNone/>
            </a:pPr>
            <a:r>
              <a:rPr lang="en-US" sz="1200" dirty="0">
                <a:solidFill>
                  <a:schemeClr val="tx1"/>
                </a:solidFill>
              </a:rPr>
              <a:t>S-shaped curve that outputs a probability of diabetes</a:t>
            </a:r>
            <a:endParaRPr lang="en-US" sz="1200" dirty="0"/>
          </a:p>
        </p:txBody>
      </p:sp>
      <p:sp>
        <p:nvSpPr>
          <p:cNvPr id="24" name="Algorithm 2"/>
          <p:cNvSpPr/>
          <p:nvPr/>
        </p:nvSpPr>
        <p:spPr>
          <a:xfrm>
            <a:off x="457200" y="2688336"/>
            <a:ext cx="384048" cy="384048"/>
          </a:xfrm>
          <a:prstGeom prst="ellipse">
            <a:avLst/>
          </a:prstGeom>
          <a:solidFill>
            <a:schemeClr val="accent1"/>
          </a:solidFill>
          <a:ln/>
        </p:spPr>
      </p:sp>
      <p:sp>
        <p:nvSpPr>
          <p:cNvPr id="25" name="Algorithm 2 number"/>
          <p:cNvSpPr txBox="1"/>
          <p:nvPr/>
        </p:nvSpPr>
        <p:spPr>
          <a:xfrm>
            <a:off x="457200" y="2688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Algorithm 2 name"/>
          <p:cNvSpPr txBox="1"/>
          <p:nvPr/>
        </p:nvSpPr>
        <p:spPr>
          <a:xfrm>
            <a:off x="1005840" y="2633472"/>
            <a:ext cx="3474720" cy="274320"/>
          </a:xfrm>
          <a:prstGeom prst="rect">
            <a:avLst/>
          </a:prstGeom>
          <a:noFill/>
          <a:ln/>
        </p:spPr>
        <p:txBody>
          <a:bodyPr wrap="square" lIns="0" tIns="0" rIns="0" bIns="0" rtlCol="0" anchor="ctr"/>
          <a:lstStyle/>
          <a:p>
            <a:pPr indent="0" marL="0">
              <a:buNone/>
            </a:pPr>
            <a:r>
              <a:rPr lang="en-US" sz="1400" b="1" dirty="0">
                <a:solidFill>
                  <a:schemeClr val="tx2"/>
                </a:solidFill>
              </a:rPr>
              <a:t>KNN (k = 11)</a:t>
            </a:r>
            <a:endParaRPr lang="en-US" sz="1400" dirty="0"/>
          </a:p>
        </p:txBody>
      </p:sp>
      <p:sp>
        <p:nvSpPr>
          <p:cNvPr id="27" name="Algorithm 2 desc"/>
          <p:cNvSpPr txBox="1"/>
          <p:nvPr/>
        </p:nvSpPr>
        <p:spPr>
          <a:xfrm>
            <a:off x="1005840" y="2907792"/>
            <a:ext cx="3474720" cy="274320"/>
          </a:xfrm>
          <a:prstGeom prst="rect">
            <a:avLst/>
          </a:prstGeom>
          <a:noFill/>
          <a:ln/>
        </p:spPr>
        <p:txBody>
          <a:bodyPr wrap="square" lIns="0" tIns="0" rIns="0" bIns="0" rtlCol="0" anchor="ctr"/>
          <a:lstStyle/>
          <a:p>
            <a:pPr indent="0" marL="0">
              <a:buNone/>
            </a:pPr>
            <a:r>
              <a:rPr lang="en-US" sz="1200" dirty="0">
                <a:solidFill>
                  <a:schemeClr val="tx1"/>
                </a:solidFill>
              </a:rPr>
              <a:t>Labels a patient like its 11 most similar patients</a:t>
            </a:r>
            <a:endParaRPr lang="en-US" sz="1200" dirty="0"/>
          </a:p>
        </p:txBody>
      </p:sp>
      <p:sp>
        <p:nvSpPr>
          <p:cNvPr id="28" name="Algorithm 3"/>
          <p:cNvSpPr/>
          <p:nvPr/>
        </p:nvSpPr>
        <p:spPr>
          <a:xfrm>
            <a:off x="457200" y="3383280"/>
            <a:ext cx="384048" cy="384048"/>
          </a:xfrm>
          <a:prstGeom prst="ellipse">
            <a:avLst/>
          </a:prstGeom>
          <a:solidFill>
            <a:schemeClr val="accent1"/>
          </a:solidFill>
          <a:ln/>
        </p:spPr>
      </p:sp>
      <p:sp>
        <p:nvSpPr>
          <p:cNvPr id="29" name="Algorithm 3 number"/>
          <p:cNvSpPr txBox="1"/>
          <p:nvPr/>
        </p:nvSpPr>
        <p:spPr>
          <a:xfrm>
            <a:off x="45720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0" name="Algorithm 3 name"/>
          <p:cNvSpPr txBox="1"/>
          <p:nvPr/>
        </p:nvSpPr>
        <p:spPr>
          <a:xfrm>
            <a:off x="1005840" y="3328416"/>
            <a:ext cx="3474720" cy="274320"/>
          </a:xfrm>
          <a:prstGeom prst="rect">
            <a:avLst/>
          </a:prstGeom>
          <a:noFill/>
          <a:ln/>
        </p:spPr>
        <p:txBody>
          <a:bodyPr wrap="square" lIns="0" tIns="0" rIns="0" bIns="0" rtlCol="0" anchor="ctr"/>
          <a:lstStyle/>
          <a:p>
            <a:pPr indent="0" marL="0">
              <a:buNone/>
            </a:pPr>
            <a:r>
              <a:rPr lang="en-US" sz="1400" b="1" dirty="0">
                <a:solidFill>
                  <a:schemeClr val="tx2"/>
                </a:solidFill>
              </a:rPr>
              <a:t>Decision Tree (depth 4)</a:t>
            </a:r>
            <a:endParaRPr lang="en-US" sz="1400" dirty="0"/>
          </a:p>
        </p:txBody>
      </p:sp>
      <p:sp>
        <p:nvSpPr>
          <p:cNvPr id="31" name="Algorithm 3 desc"/>
          <p:cNvSpPr txBox="1"/>
          <p:nvPr/>
        </p:nvSpPr>
        <p:spPr>
          <a:xfrm>
            <a:off x="1005840" y="3602736"/>
            <a:ext cx="3474720" cy="274320"/>
          </a:xfrm>
          <a:prstGeom prst="rect">
            <a:avLst/>
          </a:prstGeom>
          <a:noFill/>
          <a:ln/>
        </p:spPr>
        <p:txBody>
          <a:bodyPr wrap="square" lIns="0" tIns="0" rIns="0" bIns="0" rtlCol="0" anchor="ctr"/>
          <a:lstStyle/>
          <a:p>
            <a:pPr indent="0" marL="0">
              <a:buNone/>
            </a:pPr>
            <a:r>
              <a:rPr lang="en-US" sz="1200" dirty="0">
                <a:solidFill>
                  <a:schemeClr val="tx1"/>
                </a:solidFill>
              </a:rPr>
              <a:t>Series of yes/no questions, e.g. Glucose &gt; 127?</a:t>
            </a:r>
            <a:endParaRPr lang="en-US" sz="1200" dirty="0"/>
          </a:p>
        </p:txBody>
      </p:sp>
      <p:sp>
        <p:nvSpPr>
          <p:cNvPr id="32" name="Algorithm 4"/>
          <p:cNvSpPr/>
          <p:nvPr/>
        </p:nvSpPr>
        <p:spPr>
          <a:xfrm>
            <a:off x="457200" y="4078224"/>
            <a:ext cx="384048" cy="384048"/>
          </a:xfrm>
          <a:prstGeom prst="ellipse">
            <a:avLst/>
          </a:prstGeom>
          <a:solidFill>
            <a:schemeClr val="accent1"/>
          </a:solidFill>
          <a:ln/>
        </p:spPr>
      </p:sp>
      <p:sp>
        <p:nvSpPr>
          <p:cNvPr id="33" name="Algorithm 4 number"/>
          <p:cNvSpPr txBox="1"/>
          <p:nvPr/>
        </p:nvSpPr>
        <p:spPr>
          <a:xfrm>
            <a:off x="457200" y="4078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Algorithm 4 name"/>
          <p:cNvSpPr txBox="1"/>
          <p:nvPr/>
        </p:nvSpPr>
        <p:spPr>
          <a:xfrm>
            <a:off x="1005840" y="4023360"/>
            <a:ext cx="3474720" cy="274320"/>
          </a:xfrm>
          <a:prstGeom prst="rect">
            <a:avLst/>
          </a:prstGeom>
          <a:noFill/>
          <a:ln/>
        </p:spPr>
        <p:txBody>
          <a:bodyPr wrap="square" lIns="0" tIns="0" rIns="0" bIns="0" rtlCol="0" anchor="ctr"/>
          <a:lstStyle/>
          <a:p>
            <a:pPr indent="0" marL="0">
              <a:buNone/>
            </a:pPr>
            <a:r>
              <a:rPr lang="en-US" sz="1400" b="1" dirty="0">
                <a:solidFill>
                  <a:schemeClr val="tx2"/>
                </a:solidFill>
              </a:rPr>
              <a:t>Random Forest (200 trees)</a:t>
            </a:r>
            <a:endParaRPr lang="en-US" sz="1400" dirty="0"/>
          </a:p>
        </p:txBody>
      </p:sp>
      <p:sp>
        <p:nvSpPr>
          <p:cNvPr id="35" name="Algorithm 4 desc"/>
          <p:cNvSpPr txBox="1"/>
          <p:nvPr/>
        </p:nvSpPr>
        <p:spPr>
          <a:xfrm>
            <a:off x="1005840" y="4297680"/>
            <a:ext cx="3474720" cy="274320"/>
          </a:xfrm>
          <a:prstGeom prst="rect">
            <a:avLst/>
          </a:prstGeom>
          <a:noFill/>
          <a:ln/>
        </p:spPr>
        <p:txBody>
          <a:bodyPr wrap="square" lIns="0" tIns="0" rIns="0" bIns="0" rtlCol="0" anchor="ctr"/>
          <a:lstStyle/>
          <a:p>
            <a:pPr indent="0" marL="0">
              <a:buNone/>
            </a:pPr>
            <a:r>
              <a:rPr lang="en-US" sz="1200" dirty="0">
                <a:solidFill>
                  <a:schemeClr val="tx1"/>
                </a:solidFill>
              </a:rPr>
              <a:t>Many trees vote; less overfitting than one tree</a:t>
            </a:r>
            <a:endParaRPr lang="en-US" sz="1200" dirty="0"/>
          </a:p>
        </p:txBody>
      </p:sp>
      <p:sp>
        <p:nvSpPr>
          <p:cNvPr id="36" name="Code card"/>
          <p:cNvSpPr/>
          <p:nvPr/>
        </p:nvSpPr>
        <p:spPr>
          <a:xfrm>
            <a:off x="4709160" y="1938528"/>
            <a:ext cx="3977640" cy="2697480"/>
          </a:xfrm>
          <a:prstGeom prst="roundRect">
            <a:avLst>
              <a:gd name="adj" fmla="val 2034"/>
            </a:avLst>
          </a:prstGeom>
          <a:solidFill>
            <a:schemeClr val="tx2"/>
          </a:solidFill>
          <a:ln/>
        </p:spPr>
      </p:sp>
      <p:sp>
        <p:nvSpPr>
          <p:cNvPr id="37" name="Code snippet"/>
          <p:cNvSpPr txBox="1"/>
          <p:nvPr/>
        </p:nvSpPr>
        <p:spPr>
          <a:xfrm>
            <a:off x="4846320" y="2057400"/>
            <a:ext cx="3749040" cy="246888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pipe = Pipeline([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("imputer", SimpleImputer(strategy="median")),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("scaler", StandardScaler()),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("model", RandomForestClassifier(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n_estimators=200, max_depth=6,</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class_weight="balanced")),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cv_f1 = cross_val_score(pipe, X_train,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y_train, cv=5, scoring="f1").mean()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pipe.fit(X_train, y_train)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y_pred = pipe.predict(X_test)</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Results: Model Comparison</a:t>
            </a:r>
            <a:endParaRPr lang="en-US" sz="3200" dirty="0"/>
          </a:p>
        </p:txBody>
      </p:sp>
      <p:graphicFrame>
        <p:nvGraphicFramePr>
          <p:cNvPr id="3" name="Model comparison chart" descr=""/>
          <p:cNvGraphicFramePr/>
          <p:nvPr/>
        </p:nvGraphicFramePr>
        <p:xfrm>
          <a:off x="457200" y="105156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Winner card"/>
          <p:cNvSpPr/>
          <p:nvPr/>
        </p:nvSpPr>
        <p:spPr>
          <a:xfrm>
            <a:off x="6217920" y="1051560"/>
            <a:ext cx="2468880" cy="3657600"/>
          </a:xfrm>
          <a:prstGeom prst="roundRect">
            <a:avLst>
              <a:gd name="adj" fmla="val 2963"/>
            </a:avLst>
          </a:prstGeom>
          <a:solidFill>
            <a:schemeClr val="bg2"/>
          </a:solidFill>
          <a:ln/>
        </p:spPr>
      </p:sp>
      <p:sp>
        <p:nvSpPr>
          <p:cNvPr id="5" name="Winner label"/>
          <p:cNvSpPr txBox="1"/>
          <p:nvPr/>
        </p:nvSpPr>
        <p:spPr>
          <a:xfrm>
            <a:off x="6400800" y="1188720"/>
            <a:ext cx="210312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FINAL MODEL</a:t>
            </a:r>
            <a:endParaRPr lang="en-US" sz="1100" dirty="0"/>
          </a:p>
        </p:txBody>
      </p:sp>
      <p:sp>
        <p:nvSpPr>
          <p:cNvPr id="6" name="Winner name"/>
          <p:cNvSpPr txBox="1"/>
          <p:nvPr/>
        </p:nvSpPr>
        <p:spPr>
          <a:xfrm>
            <a:off x="6400800" y="1417320"/>
            <a:ext cx="210312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Random Forest</a:t>
            </a:r>
            <a:endParaRPr lang="en-US" sz="2200" dirty="0"/>
          </a:p>
        </p:txBody>
      </p:sp>
      <p:sp>
        <p:nvSpPr>
          <p:cNvPr id="7" name="Winner CV F1"/>
          <p:cNvSpPr txBox="1"/>
          <p:nvPr/>
        </p:nvSpPr>
        <p:spPr>
          <a:xfrm>
            <a:off x="6400800" y="1920240"/>
            <a:ext cx="2103120" cy="4572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0.697</a:t>
            </a:r>
            <a:endParaRPr lang="en-US" sz="3000" dirty="0"/>
          </a:p>
        </p:txBody>
      </p:sp>
      <p:sp>
        <p:nvSpPr>
          <p:cNvPr id="8" name="Winner CV F1 label"/>
          <p:cNvSpPr txBox="1"/>
          <p:nvPr/>
        </p:nvSpPr>
        <p:spPr>
          <a:xfrm>
            <a:off x="6400800" y="2377440"/>
            <a:ext cx="2103120" cy="228600"/>
          </a:xfrm>
          <a:prstGeom prst="rect">
            <a:avLst/>
          </a:prstGeom>
          <a:noFill/>
          <a:ln/>
        </p:spPr>
        <p:txBody>
          <a:bodyPr wrap="square" lIns="0" tIns="0" rIns="0" bIns="0" rtlCol="0" anchor="ctr"/>
          <a:lstStyle/>
          <a:p>
            <a:pPr indent="0" marL="0">
              <a:buNone/>
            </a:pPr>
            <a:r>
              <a:rPr lang="en-US" sz="1200" dirty="0">
                <a:solidFill>
                  <a:schemeClr val="tx1"/>
                </a:solidFill>
              </a:rPr>
              <a:t>cross-validated F1, best of 4</a:t>
            </a:r>
            <a:endParaRPr lang="en-US" sz="1200" dirty="0"/>
          </a:p>
        </p:txBody>
      </p:sp>
      <p:sp>
        <p:nvSpPr>
          <p:cNvPr id="9" name="Winner recall"/>
          <p:cNvSpPr txBox="1"/>
          <p:nvPr/>
        </p:nvSpPr>
        <p:spPr>
          <a:xfrm>
            <a:off x="6400800" y="2697480"/>
            <a:ext cx="2103120" cy="45720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74%</a:t>
            </a:r>
            <a:endParaRPr lang="en-US" sz="3000" dirty="0"/>
          </a:p>
        </p:txBody>
      </p:sp>
      <p:sp>
        <p:nvSpPr>
          <p:cNvPr id="10" name="Winner recall label"/>
          <p:cNvSpPr txBox="1"/>
          <p:nvPr/>
        </p:nvSpPr>
        <p:spPr>
          <a:xfrm>
            <a:off x="6400800" y="3154680"/>
            <a:ext cx="2103120" cy="228600"/>
          </a:xfrm>
          <a:prstGeom prst="rect">
            <a:avLst/>
          </a:prstGeom>
          <a:noFill/>
          <a:ln/>
        </p:spPr>
        <p:txBody>
          <a:bodyPr wrap="square" lIns="0" tIns="0" rIns="0" bIns="0" rtlCol="0" anchor="ctr"/>
          <a:lstStyle/>
          <a:p>
            <a:pPr indent="0" marL="0">
              <a:buNone/>
            </a:pPr>
            <a:r>
              <a:rPr lang="en-US" sz="1200" dirty="0">
                <a:solidFill>
                  <a:schemeClr val="tx1"/>
                </a:solidFill>
              </a:rPr>
              <a:t>of diabetic patients caught</a:t>
            </a:r>
            <a:endParaRPr lang="en-US" sz="1200" dirty="0"/>
          </a:p>
        </p:txBody>
      </p:sp>
      <p:sp>
        <p:nvSpPr>
          <p:cNvPr id="11" name="Winner reason"/>
          <p:cNvSpPr txBox="1"/>
          <p:nvPr/>
        </p:nvSpPr>
        <p:spPr>
          <a:xfrm>
            <a:off x="6400800" y="3520440"/>
            <a:ext cx="2103120" cy="1097280"/>
          </a:xfrm>
          <a:prstGeom prst="rect">
            <a:avLst/>
          </a:prstGeom>
          <a:noFill/>
          <a:ln/>
        </p:spPr>
        <p:txBody>
          <a:bodyPr wrap="square" lIns="0" tIns="0" rIns="0" bIns="0" rtlCol="0" anchor="t"/>
          <a:lstStyle/>
          <a:p>
            <a:pPr indent="0" marL="0">
              <a:buNone/>
            </a:pPr>
            <a:r>
              <a:rPr lang="en-US" sz="1100" dirty="0">
                <a:solidFill>
                  <a:schemeClr val="accent5"/>
                </a:solidFill>
              </a:rPr>
              <a:t>Chosen by 5-fold CV, which is more reliable than one small test set. Decision Tree had higher test recall but the most false alarms.</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Random Forest: Errors and Key Features</a:t>
            </a:r>
            <a:endParaRPr lang="en-US" sz="3200" dirty="0"/>
          </a:p>
        </p:txBody>
      </p:sp>
      <p:sp>
        <p:nvSpPr>
          <p:cNvPr id="3" name="CM heading"/>
          <p:cNvSpPr txBox="1"/>
          <p:nvPr/>
        </p:nvSpPr>
        <p:spPr>
          <a:xfrm>
            <a:off x="457200" y="1051560"/>
            <a:ext cx="4023360" cy="274320"/>
          </a:xfrm>
          <a:prstGeom prst="rect">
            <a:avLst/>
          </a:prstGeom>
          <a:noFill/>
          <a:ln/>
        </p:spPr>
        <p:txBody>
          <a:bodyPr wrap="square" lIns="0" tIns="0" rIns="0" bIns="0" rtlCol="0" anchor="ctr"/>
          <a:lstStyle/>
          <a:p>
            <a:pPr indent="0" marL="0">
              <a:buNone/>
            </a:pPr>
            <a:r>
              <a:rPr lang="en-US" sz="1400" b="1" dirty="0">
                <a:solidFill>
                  <a:schemeClr val="tx2"/>
                </a:solidFill>
              </a:rPr>
              <a:t>Confusion matrix (test set)</a:t>
            </a:r>
            <a:endParaRPr lang="en-US" sz="1400" dirty="0"/>
          </a:p>
        </p:txBody>
      </p:sp>
      <p:sp>
        <p:nvSpPr>
          <p:cNvPr id="4" name="CM col 1"/>
          <p:cNvSpPr txBox="1"/>
          <p:nvPr/>
        </p:nvSpPr>
        <p:spPr>
          <a:xfrm>
            <a:off x="1600200" y="1371600"/>
            <a:ext cx="1371600" cy="274320"/>
          </a:xfrm>
          <a:prstGeom prst="rect">
            <a:avLst/>
          </a:prstGeom>
          <a:noFill/>
          <a:ln/>
        </p:spPr>
        <p:txBody>
          <a:bodyPr wrap="square" lIns="0" tIns="0" rIns="0" bIns="0" rtlCol="0" anchor="ctr"/>
          <a:lstStyle/>
          <a:p>
            <a:pPr algn="ctr" indent="0" marL="0">
              <a:buNone/>
            </a:pPr>
            <a:r>
              <a:rPr lang="en-US" sz="1200" b="1" dirty="0">
                <a:solidFill>
                  <a:schemeClr val="accent5"/>
                </a:solidFill>
              </a:rPr>
              <a:t>Predicted: No</a:t>
            </a:r>
            <a:endParaRPr lang="en-US" sz="1200" dirty="0"/>
          </a:p>
        </p:txBody>
      </p:sp>
      <p:sp>
        <p:nvSpPr>
          <p:cNvPr id="5" name="CM col 2"/>
          <p:cNvSpPr txBox="1"/>
          <p:nvPr/>
        </p:nvSpPr>
        <p:spPr>
          <a:xfrm>
            <a:off x="3044952" y="1371600"/>
            <a:ext cx="1371600" cy="274320"/>
          </a:xfrm>
          <a:prstGeom prst="rect">
            <a:avLst/>
          </a:prstGeom>
          <a:noFill/>
          <a:ln/>
        </p:spPr>
        <p:txBody>
          <a:bodyPr wrap="square" lIns="0" tIns="0" rIns="0" bIns="0" rtlCol="0" anchor="ctr"/>
          <a:lstStyle/>
          <a:p>
            <a:pPr algn="ctr" indent="0" marL="0">
              <a:buNone/>
            </a:pPr>
            <a:r>
              <a:rPr lang="en-US" sz="1200" b="1" dirty="0">
                <a:solidFill>
                  <a:schemeClr val="accent5"/>
                </a:solidFill>
              </a:rPr>
              <a:t>Predicted: Yes</a:t>
            </a:r>
            <a:endParaRPr lang="en-US" sz="1200" dirty="0"/>
          </a:p>
        </p:txBody>
      </p:sp>
      <p:sp>
        <p:nvSpPr>
          <p:cNvPr id="6" name="CM row 1"/>
          <p:cNvSpPr txBox="1"/>
          <p:nvPr/>
        </p:nvSpPr>
        <p:spPr>
          <a:xfrm>
            <a:off x="457200" y="1691640"/>
            <a:ext cx="1051560" cy="960120"/>
          </a:xfrm>
          <a:prstGeom prst="rect">
            <a:avLst/>
          </a:prstGeom>
          <a:noFill/>
          <a:ln/>
        </p:spPr>
        <p:txBody>
          <a:bodyPr wrap="square" lIns="0" tIns="0" rIns="0" bIns="0" rtlCol="0" anchor="ctr"/>
          <a:lstStyle/>
          <a:p>
            <a:pPr indent="0" marL="0">
              <a:buNone/>
            </a:pPr>
            <a:r>
              <a:rPr lang="en-US" sz="1200" b="1" dirty="0">
                <a:solidFill>
                  <a:schemeClr val="accent5"/>
                </a:solidFill>
              </a:rPr>
              <a:t>Actual: No</a:t>
            </a:r>
            <a:endParaRPr lang="en-US" sz="1200" dirty="0"/>
          </a:p>
        </p:txBody>
      </p:sp>
      <p:sp>
        <p:nvSpPr>
          <p:cNvPr id="7" name="CM row 2"/>
          <p:cNvSpPr txBox="1"/>
          <p:nvPr/>
        </p:nvSpPr>
        <p:spPr>
          <a:xfrm>
            <a:off x="457200" y="2724912"/>
            <a:ext cx="1051560" cy="960120"/>
          </a:xfrm>
          <a:prstGeom prst="rect">
            <a:avLst/>
          </a:prstGeom>
          <a:noFill/>
          <a:ln/>
        </p:spPr>
        <p:txBody>
          <a:bodyPr wrap="square" lIns="0" tIns="0" rIns="0" bIns="0" rtlCol="0" anchor="ctr"/>
          <a:lstStyle/>
          <a:p>
            <a:pPr indent="0" marL="0">
              <a:buNone/>
            </a:pPr>
            <a:r>
              <a:rPr lang="en-US" sz="1200" b="1" dirty="0">
                <a:solidFill>
                  <a:schemeClr val="accent5"/>
                </a:solidFill>
              </a:rPr>
              <a:t>Actual: Yes</a:t>
            </a:r>
            <a:endParaRPr lang="en-US" sz="1200" dirty="0"/>
          </a:p>
        </p:txBody>
      </p:sp>
      <p:sp>
        <p:nvSpPr>
          <p:cNvPr id="8" name="CM cell 1"/>
          <p:cNvSpPr/>
          <p:nvPr/>
        </p:nvSpPr>
        <p:spPr>
          <a:xfrm>
            <a:off x="1600200" y="1691640"/>
            <a:ext cx="1371600" cy="960120"/>
          </a:xfrm>
          <a:prstGeom prst="roundRect">
            <a:avLst>
              <a:gd name="adj" fmla="val 5714"/>
            </a:avLst>
          </a:prstGeom>
          <a:solidFill>
            <a:schemeClr val="accent1">
              <a:alpha val="20000"/>
            </a:schemeClr>
          </a:solidFill>
          <a:ln/>
        </p:spPr>
      </p:sp>
      <p:sp>
        <p:nvSpPr>
          <p:cNvPr id="9" name="CM cell 1 value"/>
          <p:cNvSpPr txBox="1"/>
          <p:nvPr/>
        </p:nvSpPr>
        <p:spPr>
          <a:xfrm>
            <a:off x="1600200" y="1764792"/>
            <a:ext cx="1371600"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71</a:t>
            </a:r>
            <a:endParaRPr lang="en-US" sz="2600" dirty="0"/>
          </a:p>
        </p:txBody>
      </p:sp>
      <p:sp>
        <p:nvSpPr>
          <p:cNvPr id="10" name="CM cell 1 label"/>
          <p:cNvSpPr txBox="1"/>
          <p:nvPr/>
        </p:nvSpPr>
        <p:spPr>
          <a:xfrm>
            <a:off x="1645920" y="2267712"/>
            <a:ext cx="1280160" cy="320040"/>
          </a:xfrm>
          <a:prstGeom prst="rect">
            <a:avLst/>
          </a:prstGeom>
          <a:noFill/>
          <a:ln/>
        </p:spPr>
        <p:txBody>
          <a:bodyPr wrap="square" lIns="0" tIns="0" rIns="0" bIns="0" rtlCol="0" anchor="t"/>
          <a:lstStyle/>
          <a:p>
            <a:pPr algn="ctr" indent="0" marL="0">
              <a:buNone/>
            </a:pPr>
            <a:r>
              <a:rPr lang="en-US" sz="1000" dirty="0">
                <a:solidFill>
                  <a:schemeClr val="tx2"/>
                </a:solidFill>
              </a:rPr>
              <a:t>true negatives</a:t>
            </a:r>
            <a:endParaRPr lang="en-US" sz="1000" dirty="0"/>
          </a:p>
        </p:txBody>
      </p:sp>
      <p:sp>
        <p:nvSpPr>
          <p:cNvPr id="11" name="CM cell 2"/>
          <p:cNvSpPr/>
          <p:nvPr/>
        </p:nvSpPr>
        <p:spPr>
          <a:xfrm>
            <a:off x="3044952" y="1691640"/>
            <a:ext cx="1371600" cy="960120"/>
          </a:xfrm>
          <a:prstGeom prst="roundRect">
            <a:avLst>
              <a:gd name="adj" fmla="val 5714"/>
            </a:avLst>
          </a:prstGeom>
          <a:solidFill>
            <a:schemeClr val="accent4">
              <a:alpha val="45000"/>
            </a:schemeClr>
          </a:solidFill>
          <a:ln/>
        </p:spPr>
      </p:sp>
      <p:sp>
        <p:nvSpPr>
          <p:cNvPr id="12" name="CM cell 2 value"/>
          <p:cNvSpPr txBox="1"/>
          <p:nvPr/>
        </p:nvSpPr>
        <p:spPr>
          <a:xfrm>
            <a:off x="3044952" y="1764792"/>
            <a:ext cx="1371600"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29</a:t>
            </a:r>
            <a:endParaRPr lang="en-US" sz="2600" dirty="0"/>
          </a:p>
        </p:txBody>
      </p:sp>
      <p:sp>
        <p:nvSpPr>
          <p:cNvPr id="13" name="CM cell 2 label"/>
          <p:cNvSpPr txBox="1"/>
          <p:nvPr/>
        </p:nvSpPr>
        <p:spPr>
          <a:xfrm>
            <a:off x="3090672" y="2267712"/>
            <a:ext cx="1280160" cy="320040"/>
          </a:xfrm>
          <a:prstGeom prst="rect">
            <a:avLst/>
          </a:prstGeom>
          <a:noFill/>
          <a:ln/>
        </p:spPr>
        <p:txBody>
          <a:bodyPr wrap="square" lIns="0" tIns="0" rIns="0" bIns="0" rtlCol="0" anchor="t"/>
          <a:lstStyle/>
          <a:p>
            <a:pPr algn="ctr" indent="0" marL="0">
              <a:buNone/>
            </a:pPr>
            <a:r>
              <a:rPr lang="en-US" sz="1000" dirty="0">
                <a:solidFill>
                  <a:schemeClr val="tx2"/>
                </a:solidFill>
              </a:rPr>
              <a:t>false alarms</a:t>
            </a:r>
            <a:endParaRPr lang="en-US" sz="1000" dirty="0"/>
          </a:p>
        </p:txBody>
      </p:sp>
      <p:sp>
        <p:nvSpPr>
          <p:cNvPr id="14" name="CM cell 3"/>
          <p:cNvSpPr/>
          <p:nvPr/>
        </p:nvSpPr>
        <p:spPr>
          <a:xfrm>
            <a:off x="1600200" y="2724912"/>
            <a:ext cx="1371600" cy="960120"/>
          </a:xfrm>
          <a:prstGeom prst="roundRect">
            <a:avLst>
              <a:gd name="adj" fmla="val 5714"/>
            </a:avLst>
          </a:prstGeom>
          <a:solidFill>
            <a:schemeClr val="accent2"/>
          </a:solidFill>
          <a:ln/>
        </p:spPr>
      </p:sp>
      <p:sp>
        <p:nvSpPr>
          <p:cNvPr id="15" name="CM cell 3 value"/>
          <p:cNvSpPr txBox="1"/>
          <p:nvPr/>
        </p:nvSpPr>
        <p:spPr>
          <a:xfrm>
            <a:off x="1600200" y="2798064"/>
            <a:ext cx="1371600" cy="5029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14</a:t>
            </a:r>
            <a:endParaRPr lang="en-US" sz="2600" dirty="0"/>
          </a:p>
        </p:txBody>
      </p:sp>
      <p:sp>
        <p:nvSpPr>
          <p:cNvPr id="16" name="CM cell 3 label"/>
          <p:cNvSpPr txBox="1"/>
          <p:nvPr/>
        </p:nvSpPr>
        <p:spPr>
          <a:xfrm>
            <a:off x="1645920" y="3300984"/>
            <a:ext cx="1280160" cy="320040"/>
          </a:xfrm>
          <a:prstGeom prst="rect">
            <a:avLst/>
          </a:prstGeom>
          <a:noFill/>
          <a:ln/>
        </p:spPr>
        <p:txBody>
          <a:bodyPr wrap="square" lIns="0" tIns="0" rIns="0" bIns="0" rtlCol="0" anchor="t"/>
          <a:lstStyle/>
          <a:p>
            <a:pPr algn="ctr" indent="0" marL="0">
              <a:buNone/>
            </a:pPr>
            <a:r>
              <a:rPr lang="en-US" sz="1000" dirty="0">
                <a:solidFill>
                  <a:schemeClr val="bg1"/>
                </a:solidFill>
              </a:rPr>
              <a:t>missed (false negatives)</a:t>
            </a:r>
            <a:endParaRPr lang="en-US" sz="1000" dirty="0"/>
          </a:p>
        </p:txBody>
      </p:sp>
      <p:sp>
        <p:nvSpPr>
          <p:cNvPr id="17" name="CM cell 4"/>
          <p:cNvSpPr/>
          <p:nvPr/>
        </p:nvSpPr>
        <p:spPr>
          <a:xfrm>
            <a:off x="3044952" y="2724912"/>
            <a:ext cx="1371600" cy="960120"/>
          </a:xfrm>
          <a:prstGeom prst="roundRect">
            <a:avLst>
              <a:gd name="adj" fmla="val 5714"/>
            </a:avLst>
          </a:prstGeom>
          <a:solidFill>
            <a:schemeClr val="accent1">
              <a:alpha val="20000"/>
            </a:schemeClr>
          </a:solidFill>
          <a:ln/>
        </p:spPr>
      </p:sp>
      <p:sp>
        <p:nvSpPr>
          <p:cNvPr id="18" name="CM cell 4 value"/>
          <p:cNvSpPr txBox="1"/>
          <p:nvPr/>
        </p:nvSpPr>
        <p:spPr>
          <a:xfrm>
            <a:off x="3044952" y="2798064"/>
            <a:ext cx="1371600"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40</a:t>
            </a:r>
            <a:endParaRPr lang="en-US" sz="2600" dirty="0"/>
          </a:p>
        </p:txBody>
      </p:sp>
      <p:sp>
        <p:nvSpPr>
          <p:cNvPr id="19" name="CM cell 4 label"/>
          <p:cNvSpPr txBox="1"/>
          <p:nvPr/>
        </p:nvSpPr>
        <p:spPr>
          <a:xfrm>
            <a:off x="3090672" y="3300984"/>
            <a:ext cx="1280160" cy="320040"/>
          </a:xfrm>
          <a:prstGeom prst="rect">
            <a:avLst/>
          </a:prstGeom>
          <a:noFill/>
          <a:ln/>
        </p:spPr>
        <p:txBody>
          <a:bodyPr wrap="square" lIns="0" tIns="0" rIns="0" bIns="0" rtlCol="0" anchor="t"/>
          <a:lstStyle/>
          <a:p>
            <a:pPr algn="ctr" indent="0" marL="0">
              <a:buNone/>
            </a:pPr>
            <a:r>
              <a:rPr lang="en-US" sz="1000" dirty="0">
                <a:solidFill>
                  <a:schemeClr val="tx2"/>
                </a:solidFill>
              </a:rPr>
              <a:t>true positives</a:t>
            </a:r>
            <a:endParaRPr lang="en-US" sz="1000" dirty="0"/>
          </a:p>
        </p:txBody>
      </p:sp>
      <p:sp>
        <p:nvSpPr>
          <p:cNvPr id="20" name="CM caption"/>
          <p:cNvSpPr txBox="1"/>
          <p:nvPr/>
        </p:nvSpPr>
        <p:spPr>
          <a:xfrm>
            <a:off x="457200" y="3840480"/>
            <a:ext cx="3977640" cy="914400"/>
          </a:xfrm>
          <a:prstGeom prst="rect">
            <a:avLst/>
          </a:prstGeom>
          <a:noFill/>
          <a:ln/>
        </p:spPr>
        <p:txBody>
          <a:bodyPr wrap="square" lIns="0" tIns="0" rIns="0" bIns="0" rtlCol="0" anchor="t"/>
          <a:lstStyle/>
          <a:p>
            <a:pPr indent="0" marL="0">
              <a:buNone/>
            </a:pPr>
            <a:r>
              <a:rPr lang="en-US" sz="1300" dirty="0">
                <a:solidFill>
                  <a:schemeClr val="tx1"/>
                </a:solidFill>
              </a:rPr>
              <a:t>14 of 54 diabetic patients were missed. This is the most harmful error: they would go untreated. A false alarm only means one extra blood test.</a:t>
            </a:r>
            <a:endParaRPr lang="en-US" sz="1300" dirty="0"/>
          </a:p>
        </p:txBody>
      </p:sp>
      <p:sp>
        <p:nvSpPr>
          <p:cNvPr id="21" name="FI heading"/>
          <p:cNvSpPr txBox="1"/>
          <p:nvPr/>
        </p:nvSpPr>
        <p:spPr>
          <a:xfrm>
            <a:off x="4846320" y="1051560"/>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Feature importance (Random Forest)</a:t>
            </a:r>
            <a:endParaRPr lang="en-US" sz="1400" dirty="0"/>
          </a:p>
        </p:txBody>
      </p:sp>
      <p:graphicFrame>
        <p:nvGraphicFramePr>
          <p:cNvPr id="22" name="Feature importance chart" descr=""/>
          <p:cNvGraphicFramePr/>
          <p:nvPr/>
        </p:nvGraphicFramePr>
        <p:xfrm>
          <a:off x="4754880" y="1371600"/>
          <a:ext cx="3931920" cy="3337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bg1"/>
                </a:solidFill>
              </a:rPr>
              <a:t>Conclusion and Limitations</a:t>
            </a:r>
            <a:endParaRPr lang="en-US" sz="3200" dirty="0"/>
          </a:p>
        </p:txBody>
      </p:sp>
      <p:sp>
        <p:nvSpPr>
          <p:cNvPr id="3" name="Conclusion card"/>
          <p:cNvSpPr/>
          <p:nvPr/>
        </p:nvSpPr>
        <p:spPr>
          <a:xfrm>
            <a:off x="457200" y="1188720"/>
            <a:ext cx="2560320" cy="3017520"/>
          </a:xfrm>
          <a:prstGeom prst="roundRect">
            <a:avLst>
              <a:gd name="adj" fmla="val 2857"/>
            </a:avLst>
          </a:prstGeom>
          <a:solidFill>
            <a:schemeClr val="bg1">
              <a:alpha val="10000"/>
            </a:schemeClr>
          </a:solidFill>
          <a:ln/>
        </p:spPr>
      </p:sp>
      <p:sp>
        <p:nvSpPr>
          <p:cNvPr id="4" name="Conclusion heading"/>
          <p:cNvSpPr txBox="1"/>
          <p:nvPr/>
        </p:nvSpPr>
        <p:spPr>
          <a:xfrm>
            <a:off x="640080" y="1325880"/>
            <a:ext cx="21945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Conclusion</a:t>
            </a:r>
            <a:endParaRPr lang="en-US" sz="1800" dirty="0"/>
          </a:p>
        </p:txBody>
      </p:sp>
      <p:sp>
        <p:nvSpPr>
          <p:cNvPr id="5" name="Conclusion list"/>
          <p:cNvSpPr txBox="1"/>
          <p:nvPr/>
        </p:nvSpPr>
        <p:spPr>
          <a:xfrm>
            <a:off x="640080" y="1783080"/>
            <a:ext cx="2240280" cy="228600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bg1"/>
                </a:solidFill>
              </a:rPr>
              <a:t>Random Forest gave the best balance: CV F1 0.697, recall 0.74</a:t>
            </a:r>
            <a:endParaRPr lang="en-US" sz="1400" dirty="0"/>
          </a:p>
          <a:p>
            <a:pPr marL="190500" indent="-190500">
              <a:spcAft>
                <a:spcPts val="1000"/>
              </a:spcAft>
              <a:buSzPct val="100000"/>
              <a:buChar char="•"/>
            </a:pPr>
            <a:r>
              <a:rPr lang="en-US" sz="1400" dirty="0">
                <a:solidFill>
                  <a:schemeClr val="bg1"/>
                </a:solidFill>
              </a:rPr>
              <a:t>Glucose, BMI and Age are the strongest predictors</a:t>
            </a:r>
            <a:endParaRPr lang="en-US" sz="1400" dirty="0"/>
          </a:p>
          <a:p>
            <a:pPr marL="190500" indent="-190500">
              <a:spcAft>
                <a:spcPts val="1000"/>
              </a:spcAft>
              <a:buSzPct val="100000"/>
              <a:buChar char="•"/>
            </a:pPr>
            <a:r>
              <a:rPr lang="en-US" sz="1400" dirty="0">
                <a:solidFill>
                  <a:schemeClr val="bg1"/>
                </a:solidFill>
              </a:rPr>
              <a:t>Class weights raised Random Forest recall from 0.52 to 0.74</a:t>
            </a:r>
            <a:endParaRPr lang="en-US" sz="1400" dirty="0"/>
          </a:p>
        </p:txBody>
      </p:sp>
      <p:sp>
        <p:nvSpPr>
          <p:cNvPr id="6" name="Limitations card"/>
          <p:cNvSpPr/>
          <p:nvPr/>
        </p:nvSpPr>
        <p:spPr>
          <a:xfrm>
            <a:off x="3291840" y="1188720"/>
            <a:ext cx="2560320" cy="3017520"/>
          </a:xfrm>
          <a:prstGeom prst="roundRect">
            <a:avLst>
              <a:gd name="adj" fmla="val 2857"/>
            </a:avLst>
          </a:prstGeom>
          <a:solidFill>
            <a:schemeClr val="bg1">
              <a:alpha val="10000"/>
            </a:schemeClr>
          </a:solidFill>
          <a:ln/>
        </p:spPr>
      </p:sp>
      <p:sp>
        <p:nvSpPr>
          <p:cNvPr id="7" name="Limitations heading"/>
          <p:cNvSpPr txBox="1"/>
          <p:nvPr/>
        </p:nvSpPr>
        <p:spPr>
          <a:xfrm>
            <a:off x="3474720" y="1325880"/>
            <a:ext cx="21945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Limitations</a:t>
            </a:r>
            <a:endParaRPr lang="en-US" sz="1800" dirty="0"/>
          </a:p>
        </p:txBody>
      </p:sp>
      <p:sp>
        <p:nvSpPr>
          <p:cNvPr id="8" name="Limitations list"/>
          <p:cNvSpPr txBox="1"/>
          <p:nvPr/>
        </p:nvSpPr>
        <p:spPr>
          <a:xfrm>
            <a:off x="3474720" y="1783080"/>
            <a:ext cx="2240280" cy="228600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bg1"/>
                </a:solidFill>
              </a:rPr>
              <a:t>Small dataset (768) from one group: Pima Indian women, 21+</a:t>
            </a:r>
            <a:endParaRPr lang="en-US" sz="1400" dirty="0"/>
          </a:p>
          <a:p>
            <a:pPr marL="190500" indent="-190500">
              <a:spcAft>
                <a:spcPts val="1000"/>
              </a:spcAft>
              <a:buSzPct val="100000"/>
              <a:buChar char="•"/>
            </a:pPr>
            <a:r>
              <a:rPr lang="en-US" sz="1400" dirty="0">
                <a:solidFill>
                  <a:schemeClr val="bg1"/>
                </a:solidFill>
              </a:rPr>
              <a:t>Insulin and skin thickness mostly imputed (49% / 30% missing)</a:t>
            </a:r>
            <a:endParaRPr lang="en-US" sz="1400" dirty="0"/>
          </a:p>
          <a:p>
            <a:pPr marL="190500" indent="-190500">
              <a:spcAft>
                <a:spcPts val="1000"/>
              </a:spcAft>
              <a:buSzPct val="100000"/>
              <a:buChar char="•"/>
            </a:pPr>
            <a:r>
              <a:rPr lang="en-US" sz="1400" dirty="0">
                <a:solidFill>
                  <a:schemeClr val="bg1"/>
                </a:solidFill>
              </a:rPr>
              <a:t>Not a diagnosis tool: a doctor must confirm</a:t>
            </a:r>
            <a:endParaRPr lang="en-US" sz="1400" dirty="0"/>
          </a:p>
        </p:txBody>
      </p:sp>
      <p:sp>
        <p:nvSpPr>
          <p:cNvPr id="9" name="Future work card"/>
          <p:cNvSpPr/>
          <p:nvPr/>
        </p:nvSpPr>
        <p:spPr>
          <a:xfrm>
            <a:off x="6126480" y="1188720"/>
            <a:ext cx="2560320" cy="3017520"/>
          </a:xfrm>
          <a:prstGeom prst="roundRect">
            <a:avLst>
              <a:gd name="adj" fmla="val 2857"/>
            </a:avLst>
          </a:prstGeom>
          <a:solidFill>
            <a:schemeClr val="bg1">
              <a:alpha val="10000"/>
            </a:schemeClr>
          </a:solidFill>
          <a:ln/>
        </p:spPr>
      </p:sp>
      <p:sp>
        <p:nvSpPr>
          <p:cNvPr id="10" name="Future work heading"/>
          <p:cNvSpPr txBox="1"/>
          <p:nvPr/>
        </p:nvSpPr>
        <p:spPr>
          <a:xfrm>
            <a:off x="6309360" y="1325880"/>
            <a:ext cx="21945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Future work</a:t>
            </a:r>
            <a:endParaRPr lang="en-US" sz="1800" dirty="0"/>
          </a:p>
        </p:txBody>
      </p:sp>
      <p:sp>
        <p:nvSpPr>
          <p:cNvPr id="11" name="Future work list"/>
          <p:cNvSpPr txBox="1"/>
          <p:nvPr/>
        </p:nvSpPr>
        <p:spPr>
          <a:xfrm>
            <a:off x="6309360" y="1783080"/>
            <a:ext cx="2240280" cy="228600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chemeClr val="bg1"/>
                </a:solidFill>
              </a:rPr>
              <a:t>Larger, more diverse patient data</a:t>
            </a:r>
            <a:endParaRPr lang="en-US" sz="1400" dirty="0"/>
          </a:p>
          <a:p>
            <a:pPr marL="190500" indent="-190500">
              <a:spcAft>
                <a:spcPts val="1000"/>
              </a:spcAft>
              <a:buSzPct val="100000"/>
              <a:buChar char="•"/>
            </a:pPr>
            <a:r>
              <a:rPr lang="en-US" sz="1400" dirty="0">
                <a:solidFill>
                  <a:schemeClr val="bg1"/>
                </a:solidFill>
              </a:rPr>
              <a:t>Tune hyperparameters with GridSearchCV</a:t>
            </a:r>
            <a:endParaRPr lang="en-US" sz="1400" dirty="0"/>
          </a:p>
          <a:p>
            <a:pPr marL="190500" indent="-190500">
              <a:spcAft>
                <a:spcPts val="1000"/>
              </a:spcAft>
              <a:buSzPct val="100000"/>
              <a:buChar char="•"/>
            </a:pPr>
            <a:r>
              <a:rPr lang="en-US" sz="1400" dirty="0">
                <a:solidFill>
                  <a:schemeClr val="bg1"/>
                </a:solidFill>
              </a:rPr>
              <a:t>Simple Streamlit app for live predictions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Diabetes ML">
  <a:themeElements>
    <a:clrScheme name="Diabetes ML">
      <a:dk1>
        <a:srgbClr val="1A2B3C"/>
      </a:dk1>
      <a:lt1>
        <a:srgbClr val="FFFFFF"/>
      </a:lt1>
      <a:dk2>
        <a:srgbClr val="12304A"/>
      </a:dk2>
      <a:lt2>
        <a:srgbClr val="EAF2F6"/>
      </a:lt2>
      <a:accent1>
        <a:srgbClr val="2E86AB"/>
      </a:accent1>
      <a:accent2>
        <a:srgbClr val="C0392B"/>
      </a:accent2>
      <a:accent3>
        <a:srgbClr val="1B998B"/>
      </a:accent3>
      <a:accent4>
        <a:srgbClr val="F4A259"/>
      </a:accent4>
      <a:accent5>
        <a:srgbClr val="5C6B7A"/>
      </a:accent5>
      <a:accent6>
        <a:srgbClr val="8AB6D6"/>
      </a:accent6>
      <a:hlink>
        <a:srgbClr val="2E86AB"/>
      </a:hlink>
      <a:folHlink>
        <a:srgbClr val="5C6B7A"/>
      </a:folHlink>
    </a:clrScheme>
    <a:fontScheme name="Diabetes M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Outcome Classification</dc:title>
  <dc:subject>TYBCA Machine Learning Project (CCA2)</dc:subject>
  <dc:creator>Vedant</dc:creator>
  <cp:lastModifiedBy>Vedant</cp:lastModifiedBy>
  <cp:revision>1</cp:revision>
  <dcterms:created xsi:type="dcterms:W3CDTF">2026-10-21T04:52:38Z</dcterms:created>
  <dcterms:modified xsi:type="dcterms:W3CDTF">2026-10-21T04:52:38Z</dcterms:modified>
</cp:coreProperties>
</file>